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everyone. Over the next few minutes I'll walk through three things: first the procurement issues we've identified and the impact they're having; second what we'd prioritise and why; and third the questions we'd put back to the client. I'll flag where we've made assumptions, because some of this needs data to confirm.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thing to understand is that this isn't really 59 separate problems — it's one. The company grew by acquisition but never integrated those businesses, so today 59 sites run as independent organisations, each with their own processes, suppliers and back-end systems. Two central teams are accountable across all of them. And the scale matters: at roughly 1.8 million transactions a day, even a tiny inefficiency per transaction becomes enormous. Everything that follows comes from the manager's own internal analysis.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separated the findings into root causes — the drivers — and symptoms, because you fix the drivers, not the symptoms. There are four root causes. R1, and the most important, is that there's no executive mandate: the central teams are accountable but can't actually enforce compliance across 59 autonomous units. R2 is the fragmented operating model from M&amp;A. R3 is that there's no standard process — staff are upskilled to invoice in lots of different ways. And R4 is the systems: three ERPs, Oracle, SAP and PeopleSoft, poorly integrated, forcing a lot of manual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Those root causes produce five symptoms. Protracted payables — slow invoice processing. Lost economies of scale. Catalogue proliferation and tail spend, where a single low-value item needs multiple orders to different suppliers. The resourcing imbalance between the two teams — Team 1 is understaffed with two vacancies and part-timers while Team 2 is much stronger. And low morale, because procurement is seen as low-value back-office work. I'd flag that the cost of late payments and the morale-driven attrition are assumptions at this stage — sensible, but not yet quantified.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piece of evidence. Between 2023 and 2024 the supplier count went up 18%, from 224 to 264, and spend rose 16% to just over a billion. But average spend per supplier actually fell. So as the business grows it's adding suppliers faster than it's consolidating them — it's fragmenting, not concentrating. That's direct evidence for the lost economies of scale and the un-integrated operating model. The assumption is that these are group-wide numbers; a per-unit split would let us size the opportunity precisely.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 had to pick the single most important issue, it's R1 — the lack of an executive mandate. It's not the most expensive problem to fix, but it's the dependency that unblocks everything else. You simply can't standardise processes, consolidate systems or rationalise suppliers across 59 autonomous units unless leadership mandates it. And the business impact of not fixing it is exactly what that supplier chart shows — continued fragmentation. Low cost, high leverage, so we fix it first.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onto what we'd prioritise. Deliberately, this is three high-impact moves rather than a big multi-year transformation. One: secure executive sponsorship and a compliance mandate — fast, cheap, unlocks everything. Two: standardise the procure-to-pay process and rationalise the catalogue and tail spend — this is the biggest near-term efficiency win at 1.8 million transactions a day, and crucially it doesn't require replacing any systems. Three: rebalance the two teams — fill Team 1's vacancies or shift workload — a quick operational win that also helps morale. Our assumption is these three deliver most of the benefit.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bigger structural items we'd treat as longer-term and only do if the data justifies them: consolidating the ERPs, rationalising the supplier base, and moving toward a shared-services model. I want to be clear — we are not assuming a full ERP consolidation is the right answer yet. That's a significant business case and it should be decided on spend, cost-to-serve and contractual lock-in data, not assumed up front.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are these a priority organisationally? It helps to look across four lenses. People: the teams are imbalanced, morale is low, and procurement is seen as low value — so capacity and appetite for change are limited. Process: no standard process, manual work, catalogue sprawl — and that scales to 1.8 million transactions. Governance: no executive mandate, which is the thing that elevates all of this to a priority. And systems: three poorly integrated ERPs with no consolidated spend data. It's embedded across all four, which is exactly why it needs addressing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risks and dependencies that could affect how we prioritise. The gating dependency is executive sponsorship — without it the plan stalls, full stop. We'd expect cultural resistance from 59 units used to autonomy. Being multinational, local tax and regulatory rules limit how far we can impose a single standard. Team 1's thin capacity limits how much change they can absorb. ERP consolidation carries real cost and business-continuity risk. And ongoing M&amp;A could keep re-introducing fragmentation, so this needs to be sustainable, not a one-off.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commit to this prioritisation, there's information we'd want: spend by unit, category and supplier, and how much supplier overlap there is; invoice volumes, cycle times and any late-payment penalties; the cost of running the three ERPs; what share of the 1.8 million daily transactions is low-value tail spend and what one order costs to process; the number of catalogue items and contracts; and the budget, timeline and genuine executive appetite for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to the five questions we'd put to the client. One — spend and suppliers: total spend, how it splits across the 59 units, and the supplier overlap. Two — governance: is there appetite to mandate a single operating model, and who'd sponsor it. Three — transaction mix: how much of the 1.8 million is tail spend and what does an order cost to process. Four — systems: is ERP consolidation on the table, what's locked in, and is the target shared services or continued autonomy. And five — people: what's driving the low morale, are the vacancies funded, and can resource move between the teams. Those answers would let us confirm the plan.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286000"/>
            <a:ext cx="10698480" cy="2377440"/>
          </a:xfrm>
          <a:prstGeom prst="rect">
            <a:avLst/>
          </a:prstGeom>
          <a:noFill/>
        </p:spPr>
        <p:txBody>
          <a:bodyPr wrap="square">
            <a:spAutoFit/>
          </a:bodyPr>
          <a:lstStyle/>
          <a:p>
            <a:r>
              <a:rPr sz="3400" b="1">
                <a:solidFill>
                  <a:srgbClr val="1F3864"/>
                </a:solidFill>
              </a:rPr>
              <a:t>Procurement Problem Analysis &amp; Prioritisation</a:t>
            </a:r>
          </a:p>
          <a:p>
            <a:r>
              <a:rPr sz="1700">
                <a:solidFill>
                  <a:srgbClr val="444444"/>
                </a:solidFill>
              </a:rPr>
              <a:t>Client: Multinational Semiconductor Major  |  Manager's internal review</a:t>
            </a:r>
          </a:p>
          <a:p>
            <a:r>
              <a:rPr sz="1500" i="1">
                <a:solidFill>
                  <a:srgbClr val="C0392B"/>
                </a:solidFill>
              </a:rPr>
              <a:t>1. The issues, evidence &amp; impact   2. Prioritisation   3. Questions for the client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1005840"/>
          </a:xfrm>
          <a:prstGeom prst="rect">
            <a:avLst/>
          </a:prstGeom>
          <a:noFill/>
        </p:spPr>
        <p:txBody>
          <a:bodyPr wrap="square">
            <a:spAutoFit/>
          </a:bodyPr>
          <a:lstStyle/>
          <a:p>
            <a:r>
              <a:rPr sz="2800" b="1">
                <a:solidFill>
                  <a:srgbClr val="1F3864"/>
                </a:solidFill>
              </a:rPr>
              <a:t>Context: one company running as 59</a:t>
            </a:r>
          </a:p>
        </p:txBody>
      </p:sp>
      <p:sp>
        <p:nvSpPr>
          <p:cNvPr id="3" name="TextBox 2"/>
          <p:cNvSpPr txBox="1"/>
          <p:nvPr/>
        </p:nvSpPr>
        <p:spPr>
          <a:xfrm>
            <a:off x="548640" y="1371600"/>
            <a:ext cx="11064240" cy="5120640"/>
          </a:xfrm>
          <a:prstGeom prst="rect">
            <a:avLst/>
          </a:prstGeom>
          <a:noFill/>
        </p:spPr>
        <p:txBody>
          <a:bodyPr wrap="square">
            <a:spAutoFit/>
          </a:bodyPr>
          <a:lstStyle/>
          <a:p>
            <a:pPr>
              <a:spcAft>
                <a:spcPts val="500"/>
              </a:spcAft>
            </a:pPr>
            <a:r>
              <a:rPr sz="1700" b="1">
                <a:solidFill>
                  <a:srgbClr val="1F3864"/>
                </a:solidFill>
              </a:rPr>
              <a:t>A multinational semiconductor major grew through M&amp;A but never integrated the acquired businesses.</a:t>
            </a:r>
          </a:p>
          <a:p>
            <a:pPr>
              <a:spcAft>
                <a:spcPts val="500"/>
              </a:spcAft>
            </a:pPr>
            <a:r>
              <a:rPr sz="1700" b="0">
                <a:solidFill>
                  <a:srgbClr val="444444"/>
                </a:solidFill>
              </a:rPr>
              <a:t>59 operating locations run as independent organisations, each with its own procurement processes, supplier community and back-end systems (Oracle, SAP, PeopleSoft).</a:t>
            </a:r>
          </a:p>
          <a:p>
            <a:pPr>
              <a:spcAft>
                <a:spcPts val="500"/>
              </a:spcAft>
            </a:pPr>
            <a:r>
              <a:rPr sz="1700" b="0">
                <a:solidFill>
                  <a:srgbClr val="444444"/>
                </a:solidFill>
              </a:rPr>
              <a:t>Two central procurement teams are accountable for end-to-end process across all 59 locations.</a:t>
            </a:r>
          </a:p>
          <a:p>
            <a:pPr>
              <a:spcAft>
                <a:spcPts val="500"/>
              </a:spcAft>
            </a:pPr>
            <a:r>
              <a:rPr sz="1700" b="1">
                <a:solidFill>
                  <a:srgbClr val="1F3864"/>
                </a:solidFill>
              </a:rPr>
              <a:t>Scale: ~1.8 million procurement transactions every day — so every inefficiency is multiplied massively.</a:t>
            </a:r>
          </a:p>
          <a:p>
            <a:pPr>
              <a:spcAft>
                <a:spcPts val="500"/>
              </a:spcAft>
            </a:pPr>
            <a:r>
              <a:rPr sz="1700" b="0">
                <a:solidFill>
                  <a:srgbClr val="444444"/>
                </a:solidFill>
              </a:rPr>
              <a:t>A manager's internal analysis surfaced the issues that follow.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1005840"/>
          </a:xfrm>
          <a:prstGeom prst="rect">
            <a:avLst/>
          </a:prstGeom>
          <a:noFill/>
        </p:spPr>
        <p:txBody>
          <a:bodyPr wrap="square">
            <a:spAutoFit/>
          </a:bodyPr>
          <a:lstStyle/>
          <a:p>
            <a:r>
              <a:rPr sz="2800" b="1">
                <a:solidFill>
                  <a:srgbClr val="1F3864"/>
                </a:solidFill>
              </a:rPr>
              <a:t>1. The issues — root causes (the drivers)</a:t>
            </a:r>
          </a:p>
          <a:p>
            <a:r>
              <a:rPr sz="1500" i="1">
                <a:solidFill>
                  <a:srgbClr val="C0392B"/>
                </a:solidFill>
              </a:rPr>
              <a:t>Problem | evidence | business impact</a:t>
            </a:r>
          </a:p>
        </p:txBody>
      </p:sp>
      <p:sp>
        <p:nvSpPr>
          <p:cNvPr id="3" name="TextBox 2"/>
          <p:cNvSpPr txBox="1"/>
          <p:nvPr/>
        </p:nvSpPr>
        <p:spPr>
          <a:xfrm>
            <a:off x="548640" y="1371600"/>
            <a:ext cx="11064240" cy="5120640"/>
          </a:xfrm>
          <a:prstGeom prst="rect">
            <a:avLst/>
          </a:prstGeom>
          <a:noFill/>
        </p:spPr>
        <p:txBody>
          <a:bodyPr wrap="square">
            <a:spAutoFit/>
          </a:bodyPr>
          <a:lstStyle/>
          <a:p>
            <a:pPr>
              <a:spcAft>
                <a:spcPts val="500"/>
              </a:spcAft>
            </a:pPr>
            <a:r>
              <a:rPr sz="1600" b="1">
                <a:solidFill>
                  <a:srgbClr val="1F3864"/>
                </a:solidFill>
              </a:rPr>
              <a:t>R1  No executive sponsorship to enforce compliance</a:t>
            </a:r>
          </a:p>
          <a:p>
            <a:pPr lvl="1">
              <a:spcAft>
                <a:spcPts val="500"/>
              </a:spcAft>
            </a:pPr>
            <a:r>
              <a:rPr sz="1500" b="0">
                <a:solidFill>
                  <a:srgbClr val="444444"/>
                </a:solidFill>
              </a:rPr>
              <a:t>Teams are accountable but have no mandate; 'control of all 59 is a huge challenge' -&gt; nothing can be standardised. The keystone issue.</a:t>
            </a:r>
          </a:p>
          <a:p>
            <a:pPr>
              <a:spcAft>
                <a:spcPts val="500"/>
              </a:spcAft>
            </a:pPr>
            <a:r>
              <a:rPr sz="1600" b="1">
                <a:solidFill>
                  <a:srgbClr val="1F3864"/>
                </a:solidFill>
              </a:rPr>
              <a:t>R2  59 independent units from M&amp;A, never integrated</a:t>
            </a:r>
          </a:p>
          <a:p>
            <a:pPr lvl="1">
              <a:spcAft>
                <a:spcPts val="500"/>
              </a:spcAft>
            </a:pPr>
            <a:r>
              <a:rPr sz="1500" b="0">
                <a:solidFill>
                  <a:srgbClr val="444444"/>
                </a:solidFill>
              </a:rPr>
              <a:t>Own processes, suppliers and systems -&gt; duplication, no single source of truth, no buying leverage.</a:t>
            </a:r>
          </a:p>
          <a:p>
            <a:pPr>
              <a:spcAft>
                <a:spcPts val="500"/>
              </a:spcAft>
            </a:pPr>
            <a:r>
              <a:rPr sz="1600" b="1">
                <a:solidFill>
                  <a:srgbClr val="1F3864"/>
                </a:solidFill>
              </a:rPr>
              <a:t>R3  No standardised process design</a:t>
            </a:r>
          </a:p>
          <a:p>
            <a:pPr lvl="1">
              <a:spcAft>
                <a:spcPts val="500"/>
              </a:spcAft>
            </a:pPr>
            <a:r>
              <a:rPr sz="1500" b="0">
                <a:solidFill>
                  <a:srgbClr val="444444"/>
                </a:solidFill>
              </a:rPr>
              <a:t>Staff upskilled to process invoices many different ways -&gt; errors, slow cycles, no end-to-end visibility.</a:t>
            </a:r>
          </a:p>
          <a:p>
            <a:pPr>
              <a:spcAft>
                <a:spcPts val="500"/>
              </a:spcAft>
            </a:pPr>
            <a:r>
              <a:rPr sz="1600" b="1">
                <a:solidFill>
                  <a:srgbClr val="1F3864"/>
                </a:solidFill>
              </a:rPr>
              <a:t>R4  Fragmented, poorly integrated systems (Oracle / SAP / PeopleSoft)</a:t>
            </a:r>
          </a:p>
          <a:p>
            <a:pPr lvl="1">
              <a:spcAft>
                <a:spcPts val="500"/>
              </a:spcAft>
            </a:pPr>
            <a:r>
              <a:rPr sz="1500" b="0">
                <a:solidFill>
                  <a:srgbClr val="444444"/>
                </a:solidFill>
              </a:rPr>
              <a:t>'Not well integrated', 'a lot of manual processes' -&gt; rework, high IT/training cost, no consolidated spend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1005840"/>
          </a:xfrm>
          <a:prstGeom prst="rect">
            <a:avLst/>
          </a:prstGeom>
          <a:noFill/>
        </p:spPr>
        <p:txBody>
          <a:bodyPr wrap="square">
            <a:spAutoFit/>
          </a:bodyPr>
          <a:lstStyle/>
          <a:p>
            <a:r>
              <a:rPr sz="2800" b="1">
                <a:solidFill>
                  <a:srgbClr val="1F3864"/>
                </a:solidFill>
              </a:rPr>
              <a:t>1. The issues — symptoms (what hurts day to day)</a:t>
            </a:r>
          </a:p>
        </p:txBody>
      </p:sp>
      <p:sp>
        <p:nvSpPr>
          <p:cNvPr id="3" name="TextBox 2"/>
          <p:cNvSpPr txBox="1"/>
          <p:nvPr/>
        </p:nvSpPr>
        <p:spPr>
          <a:xfrm>
            <a:off x="548640" y="1280160"/>
            <a:ext cx="11064240" cy="5120640"/>
          </a:xfrm>
          <a:prstGeom prst="rect">
            <a:avLst/>
          </a:prstGeom>
          <a:noFill/>
        </p:spPr>
        <p:txBody>
          <a:bodyPr wrap="square">
            <a:spAutoFit/>
          </a:bodyPr>
          <a:lstStyle/>
          <a:p>
            <a:pPr>
              <a:spcAft>
                <a:spcPts val="500"/>
              </a:spcAft>
            </a:pPr>
            <a:r>
              <a:rPr sz="1500" b="1">
                <a:solidFill>
                  <a:srgbClr val="1F3864"/>
                </a:solidFill>
              </a:rPr>
              <a:t>S1  Protracted payables (stated)</a:t>
            </a:r>
          </a:p>
          <a:p>
            <a:pPr lvl="1">
              <a:spcAft>
                <a:spcPts val="500"/>
              </a:spcAft>
            </a:pPr>
            <a:r>
              <a:rPr sz="1400" b="0" i="1">
                <a:solidFill>
                  <a:srgbClr val="C0392B"/>
                </a:solidFill>
              </a:rPr>
              <a:t>Assumption: drives late-payment penalties, lost early-payment discounts and strained supplier relationships.</a:t>
            </a:r>
          </a:p>
          <a:p>
            <a:pPr>
              <a:spcAft>
                <a:spcPts val="500"/>
              </a:spcAft>
            </a:pPr>
            <a:r>
              <a:rPr sz="1500" b="1">
                <a:solidFill>
                  <a:srgbClr val="1F3864"/>
                </a:solidFill>
              </a:rPr>
              <a:t>S2  Lost economies of scale (stated)</a:t>
            </a:r>
          </a:p>
          <a:p>
            <a:pPr lvl="1">
              <a:spcAft>
                <a:spcPts val="500"/>
              </a:spcAft>
            </a:pPr>
            <a:r>
              <a:rPr sz="1400" b="0">
                <a:solidFill>
                  <a:srgbClr val="444444"/>
                </a:solidFill>
              </a:rPr>
              <a:t>Fragmented spend -&gt; higher prices and duplicate contracts (see supplier evidence next).</a:t>
            </a:r>
          </a:p>
          <a:p>
            <a:pPr>
              <a:spcAft>
                <a:spcPts val="500"/>
              </a:spcAft>
            </a:pPr>
            <a:r>
              <a:rPr sz="1500" b="1">
                <a:solidFill>
                  <a:srgbClr val="1F3864"/>
                </a:solidFill>
              </a:rPr>
              <a:t>S3  Catalogue proliferation &amp; tail spend (stated)</a:t>
            </a:r>
          </a:p>
          <a:p>
            <a:pPr lvl="1">
              <a:spcAft>
                <a:spcPts val="500"/>
              </a:spcAft>
            </a:pPr>
            <a:r>
              <a:rPr sz="1400" b="0">
                <a:solidFill>
                  <a:srgbClr val="444444"/>
                </a:solidFill>
              </a:rPr>
              <a:t>Low-value items need multiple orders to different suppliers — costly at 1.8M txns/day.</a:t>
            </a:r>
          </a:p>
          <a:p>
            <a:pPr>
              <a:spcAft>
                <a:spcPts val="500"/>
              </a:spcAft>
            </a:pPr>
            <a:r>
              <a:rPr sz="1500" b="1">
                <a:solidFill>
                  <a:srgbClr val="1F3864"/>
                </a:solidFill>
              </a:rPr>
              <a:t>S4  Resourcing imbalance (stated)</a:t>
            </a:r>
          </a:p>
          <a:p>
            <a:pPr lvl="1">
              <a:spcAft>
                <a:spcPts val="500"/>
              </a:spcAft>
            </a:pPr>
            <a:r>
              <a:rPr sz="1400" b="0">
                <a:solidFill>
                  <a:srgbClr val="444444"/>
                </a:solidFill>
              </a:rPr>
              <a:t>Team 1: 2 FTE + part-timers + 2 vacancies (slow).  Team 2: 7 + 2 seniors (fast).</a:t>
            </a:r>
          </a:p>
          <a:p>
            <a:pPr>
              <a:spcAft>
                <a:spcPts val="500"/>
              </a:spcAft>
            </a:pPr>
            <a:r>
              <a:rPr sz="1500" b="1">
                <a:solidFill>
                  <a:srgbClr val="1F3864"/>
                </a:solidFill>
              </a:rPr>
              <a:t>S5  Low morale — procurement seen as low-value back-office work (stated)</a:t>
            </a:r>
          </a:p>
          <a:p>
            <a:pPr lvl="1">
              <a:spcAft>
                <a:spcPts val="500"/>
              </a:spcAft>
            </a:pPr>
            <a:r>
              <a:rPr sz="1400" b="0" i="1">
                <a:solidFill>
                  <a:srgbClr val="C0392B"/>
                </a:solidFill>
              </a:rPr>
              <a:t>Assumption: creates attrition risk and change fatigue.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1005840"/>
          </a:xfrm>
          <a:prstGeom prst="rect">
            <a:avLst/>
          </a:prstGeom>
          <a:noFill/>
        </p:spPr>
        <p:txBody>
          <a:bodyPr wrap="square">
            <a:spAutoFit/>
          </a:bodyPr>
          <a:lstStyle/>
          <a:p>
            <a:r>
              <a:rPr sz="2800" b="1">
                <a:solidFill>
                  <a:srgbClr val="1F3864"/>
                </a:solidFill>
              </a:rPr>
              <a:t>Evidence: the supplier base is fragmenting, not consolidating</a:t>
            </a:r>
          </a:p>
        </p:txBody>
      </p:sp>
      <p:sp>
        <p:nvSpPr>
          <p:cNvPr id="3" name="TextBox 2"/>
          <p:cNvSpPr txBox="1"/>
          <p:nvPr/>
        </p:nvSpPr>
        <p:spPr>
          <a:xfrm>
            <a:off x="548640" y="1371600"/>
            <a:ext cx="11064240" cy="5120640"/>
          </a:xfrm>
          <a:prstGeom prst="rect">
            <a:avLst/>
          </a:prstGeom>
          <a:noFill/>
        </p:spPr>
        <p:txBody>
          <a:bodyPr wrap="square">
            <a:spAutoFit/>
          </a:bodyPr>
          <a:lstStyle/>
          <a:p>
            <a:pPr>
              <a:spcAft>
                <a:spcPts val="500"/>
              </a:spcAft>
            </a:pPr>
            <a:r>
              <a:rPr sz="1600" b="1">
                <a:solidFill>
                  <a:srgbClr val="1F3864"/>
                </a:solidFill>
              </a:rPr>
              <a:t>2023:  224 suppliers  |  $900M spend</a:t>
            </a:r>
          </a:p>
          <a:p>
            <a:pPr>
              <a:spcAft>
                <a:spcPts val="500"/>
              </a:spcAft>
            </a:pPr>
            <a:r>
              <a:rPr sz="1600" b="1">
                <a:solidFill>
                  <a:srgbClr val="1F3864"/>
                </a:solidFill>
              </a:rPr>
              <a:t>2024:  264 suppliers  |  $1,045M spend</a:t>
            </a:r>
          </a:p>
          <a:p>
            <a:pPr lvl="1">
              <a:spcAft>
                <a:spcPts val="500"/>
              </a:spcAft>
            </a:pPr>
            <a:r>
              <a:rPr sz="1500" b="0">
                <a:solidFill>
                  <a:srgbClr val="444444"/>
                </a:solidFill>
              </a:rPr>
              <a:t>Suppliers +40 (+18%); spend +$145M (+16%).</a:t>
            </a:r>
          </a:p>
          <a:p>
            <a:pPr lvl="1">
              <a:spcAft>
                <a:spcPts val="500"/>
              </a:spcAft>
            </a:pPr>
            <a:r>
              <a:rPr sz="1500" b="0">
                <a:solidFill>
                  <a:srgbClr val="444444"/>
                </a:solidFill>
              </a:rPr>
              <a:t>Average spend per supplier FELL: $4.02M -&gt; $3.96M.</a:t>
            </a:r>
          </a:p>
          <a:p>
            <a:pPr>
              <a:spcAft>
                <a:spcPts val="500"/>
              </a:spcAft>
            </a:pPr>
            <a:r>
              <a:rPr sz="1600" b="1">
                <a:solidFill>
                  <a:srgbClr val="1F3864"/>
                </a:solidFill>
              </a:rPr>
              <a:t>So spend is rising but buying leverage per supplier is falling — adding suppliers faster than consolidating them.</a:t>
            </a:r>
          </a:p>
          <a:p>
            <a:pPr lvl="1">
              <a:spcAft>
                <a:spcPts val="500"/>
              </a:spcAft>
            </a:pPr>
            <a:r>
              <a:rPr sz="1500" b="0">
                <a:solidFill>
                  <a:srgbClr val="444444"/>
                </a:solidFill>
              </a:rPr>
              <a:t>Direct evidence for S2 (lost economies of scale) and R2 (fragmented, un-integrated units).</a:t>
            </a:r>
          </a:p>
          <a:p>
            <a:pPr>
              <a:spcAft>
                <a:spcPts val="500"/>
              </a:spcAft>
            </a:pPr>
            <a:r>
              <a:rPr sz="1600" b="0" i="1">
                <a:solidFill>
                  <a:srgbClr val="C0392B"/>
                </a:solidFill>
              </a:rPr>
              <a:t>Assumption: figures are group-wide; a per-unit / per-category split would size the consolidation opportunity.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1005840"/>
          </a:xfrm>
          <a:prstGeom prst="rect">
            <a:avLst/>
          </a:prstGeom>
          <a:noFill/>
        </p:spPr>
        <p:txBody>
          <a:bodyPr wrap="square">
            <a:spAutoFit/>
          </a:bodyPr>
          <a:lstStyle/>
          <a:p>
            <a:r>
              <a:rPr sz="2800" b="1">
                <a:solidFill>
                  <a:srgbClr val="1F3864"/>
                </a:solidFill>
              </a:rPr>
              <a:t>Which issue matters most?</a:t>
            </a:r>
          </a:p>
          <a:p>
            <a:r>
              <a:rPr sz="1500" i="1">
                <a:solidFill>
                  <a:srgbClr val="C0392B"/>
                </a:solidFill>
              </a:rPr>
              <a:t>Our view</a:t>
            </a:r>
          </a:p>
        </p:txBody>
      </p:sp>
      <p:sp>
        <p:nvSpPr>
          <p:cNvPr id="3" name="TextBox 2"/>
          <p:cNvSpPr txBox="1"/>
          <p:nvPr/>
        </p:nvSpPr>
        <p:spPr>
          <a:xfrm>
            <a:off x="548640" y="1554480"/>
            <a:ext cx="11064240" cy="5120640"/>
          </a:xfrm>
          <a:prstGeom prst="rect">
            <a:avLst/>
          </a:prstGeom>
          <a:noFill/>
        </p:spPr>
        <p:txBody>
          <a:bodyPr wrap="square">
            <a:spAutoFit/>
          </a:bodyPr>
          <a:lstStyle/>
          <a:p>
            <a:pPr>
              <a:spcAft>
                <a:spcPts val="500"/>
              </a:spcAft>
            </a:pPr>
            <a:r>
              <a:rPr sz="1800" b="1">
                <a:solidFill>
                  <a:srgbClr val="1F3864"/>
                </a:solidFill>
              </a:rPr>
              <a:t>Most important = R1: secure executive sponsorship and a compliance mandate.</a:t>
            </a:r>
          </a:p>
          <a:p>
            <a:pPr lvl="1">
              <a:spcAft>
                <a:spcPts val="500"/>
              </a:spcAft>
            </a:pPr>
            <a:r>
              <a:rPr sz="1700" b="0">
                <a:solidFill>
                  <a:srgbClr val="444444"/>
                </a:solidFill>
              </a:rPr>
              <a:t>Not the most expensive problem, but the dependency that unblocks everything else.</a:t>
            </a:r>
          </a:p>
          <a:p>
            <a:pPr lvl="1">
              <a:spcAft>
                <a:spcPts val="500"/>
              </a:spcAft>
            </a:pPr>
            <a:r>
              <a:rPr sz="1700" b="0">
                <a:solidFill>
                  <a:srgbClr val="444444"/>
                </a:solidFill>
              </a:rPr>
              <a:t>With 59 autonomous units, you cannot standardise processes, consolidate systems or rationalise suppliers unless leadership mandates it.</a:t>
            </a:r>
          </a:p>
          <a:p>
            <a:pPr lvl="1">
              <a:spcAft>
                <a:spcPts val="500"/>
              </a:spcAft>
            </a:pPr>
            <a:r>
              <a:rPr sz="1700" b="0">
                <a:solidFill>
                  <a:srgbClr val="444444"/>
                </a:solidFill>
              </a:rPr>
              <a:t>Business impact: without it, spend and the supplier base keep fragmenting (as 2023-&gt;2024 shows). Low cost, high leverage — fix it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1005840"/>
          </a:xfrm>
          <a:prstGeom prst="rect">
            <a:avLst/>
          </a:prstGeom>
          <a:noFill/>
        </p:spPr>
        <p:txBody>
          <a:bodyPr wrap="square">
            <a:spAutoFit/>
          </a:bodyPr>
          <a:lstStyle/>
          <a:p>
            <a:r>
              <a:rPr sz="2800" b="1">
                <a:solidFill>
                  <a:srgbClr val="1F3864"/>
                </a:solidFill>
              </a:rPr>
              <a:t>2. Prioritisation — three high-impact moves</a:t>
            </a:r>
          </a:p>
          <a:p>
            <a:r>
              <a:rPr sz="1500" i="1">
                <a:solidFill>
                  <a:srgbClr val="C0392B"/>
                </a:solidFill>
              </a:rPr>
              <a:t>Prioritised issue and why — not a full redesign</a:t>
            </a:r>
          </a:p>
        </p:txBody>
      </p:sp>
      <p:sp>
        <p:nvSpPr>
          <p:cNvPr id="3" name="TextBox 2"/>
          <p:cNvSpPr txBox="1"/>
          <p:nvPr/>
        </p:nvSpPr>
        <p:spPr>
          <a:xfrm>
            <a:off x="548640" y="1371600"/>
            <a:ext cx="11064240" cy="5120640"/>
          </a:xfrm>
          <a:prstGeom prst="rect">
            <a:avLst/>
          </a:prstGeom>
          <a:noFill/>
        </p:spPr>
        <p:txBody>
          <a:bodyPr wrap="square">
            <a:spAutoFit/>
          </a:bodyPr>
          <a:lstStyle/>
          <a:p>
            <a:pPr lvl="1">
              <a:spcAft>
                <a:spcPts val="500"/>
              </a:spcAft>
            </a:pPr>
            <a:r>
              <a:rPr sz="1500" b="1">
                <a:solidFill>
                  <a:srgbClr val="444444"/>
                </a:solidFill>
              </a:rPr>
              <a:t>1.  R1 — Secure executive sponsorship &amp; a compliance mandate</a:t>
            </a:r>
          </a:p>
          <a:p>
            <a:pPr lvl="2">
              <a:spcAft>
                <a:spcPts val="500"/>
              </a:spcAft>
            </a:pPr>
            <a:r>
              <a:rPr sz="1400" b="0">
                <a:solidFill>
                  <a:srgbClr val="444444"/>
                </a:solidFill>
              </a:rPr>
              <a:t>Low cost, fast, unlocks every other fix. Highest leverage move available.</a:t>
            </a:r>
          </a:p>
          <a:p>
            <a:pPr lvl="1">
              <a:spcAft>
                <a:spcPts val="500"/>
              </a:spcAft>
            </a:pPr>
            <a:r>
              <a:rPr sz="1500" b="1">
                <a:solidFill>
                  <a:srgbClr val="444444"/>
                </a:solidFill>
              </a:rPr>
              <a:t>2.  R3 + S3 — Standardise procure-to-pay &amp; rationalise catalogue / tail spend</a:t>
            </a:r>
          </a:p>
          <a:p>
            <a:pPr lvl="2">
              <a:spcAft>
                <a:spcPts val="500"/>
              </a:spcAft>
            </a:pPr>
            <a:r>
              <a:rPr sz="1400" b="0">
                <a:solidFill>
                  <a:srgbClr val="444444"/>
                </a:solidFill>
              </a:rPr>
              <a:t>Biggest near-term efficiency gain at 1.8M txns/day — achievable WITHOUT replacing systems.</a:t>
            </a:r>
          </a:p>
          <a:p>
            <a:pPr lvl="1">
              <a:spcAft>
                <a:spcPts val="500"/>
              </a:spcAft>
            </a:pPr>
            <a:r>
              <a:rPr sz="1500" b="1">
                <a:solidFill>
                  <a:srgbClr val="444444"/>
                </a:solidFill>
              </a:rPr>
              <a:t>3.  S4 — Rebalance the two central teams (fill Team 1 vacancies / shift workload)</a:t>
            </a:r>
          </a:p>
          <a:p>
            <a:pPr lvl="2">
              <a:spcAft>
                <a:spcPts val="500"/>
              </a:spcAft>
            </a:pPr>
            <a:r>
              <a:rPr sz="1400" b="0">
                <a:solidFill>
                  <a:srgbClr val="444444"/>
                </a:solidFill>
              </a:rPr>
              <a:t>Fast operational win that lifts throughput and morale.</a:t>
            </a:r>
          </a:p>
          <a:p>
            <a:pPr>
              <a:spcAft>
                <a:spcPts val="500"/>
              </a:spcAft>
            </a:pPr>
            <a:r>
              <a:rPr sz="1600" b="0" i="1">
                <a:solidFill>
                  <a:srgbClr val="C0392B"/>
                </a:solidFill>
              </a:rPr>
              <a:t>Assumption: these three deliver most of the benefit; structural changes are deferred until data justifies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1005840"/>
          </a:xfrm>
          <a:prstGeom prst="rect">
            <a:avLst/>
          </a:prstGeom>
          <a:noFill/>
        </p:spPr>
        <p:txBody>
          <a:bodyPr wrap="square">
            <a:spAutoFit/>
          </a:bodyPr>
          <a:lstStyle/>
          <a:p>
            <a:r>
              <a:rPr sz="2800" b="1">
                <a:solidFill>
                  <a:srgbClr val="1F3864"/>
                </a:solidFill>
              </a:rPr>
              <a:t>Related issues — longer-term focus</a:t>
            </a:r>
          </a:p>
          <a:p>
            <a:r>
              <a:rPr sz="1500" i="1">
                <a:solidFill>
                  <a:srgbClr val="C0392B"/>
                </a:solidFill>
              </a:rPr>
              <a:t>Higher cost / risk: later-stage, data-led decisions</a:t>
            </a:r>
          </a:p>
        </p:txBody>
      </p:sp>
      <p:sp>
        <p:nvSpPr>
          <p:cNvPr id="3" name="TextBox 2"/>
          <p:cNvSpPr txBox="1"/>
          <p:nvPr/>
        </p:nvSpPr>
        <p:spPr>
          <a:xfrm>
            <a:off x="548640" y="1463040"/>
            <a:ext cx="11064240" cy="5120640"/>
          </a:xfrm>
          <a:prstGeom prst="rect">
            <a:avLst/>
          </a:prstGeom>
          <a:noFill/>
        </p:spPr>
        <p:txBody>
          <a:bodyPr wrap="square">
            <a:spAutoFit/>
          </a:bodyPr>
          <a:lstStyle/>
          <a:p>
            <a:pPr>
              <a:spcAft>
                <a:spcPts val="500"/>
              </a:spcAft>
            </a:pPr>
            <a:r>
              <a:rPr sz="1700" b="1">
                <a:solidFill>
                  <a:srgbClr val="1F3864"/>
                </a:solidFill>
              </a:rPr>
              <a:t>R4 — Consolidate / better integrate the ERPs (Oracle, SAP, PeopleSoft)</a:t>
            </a:r>
          </a:p>
          <a:p>
            <a:pPr>
              <a:spcAft>
                <a:spcPts val="500"/>
              </a:spcAft>
            </a:pPr>
            <a:r>
              <a:rPr sz="1700" b="1">
                <a:solidFill>
                  <a:srgbClr val="1F3864"/>
                </a:solidFill>
              </a:rPr>
              <a:t>S2 — Rationalise the supplier base to rebuild buying leverage</a:t>
            </a:r>
          </a:p>
          <a:p>
            <a:pPr>
              <a:spcAft>
                <a:spcPts val="500"/>
              </a:spcAft>
            </a:pPr>
            <a:r>
              <a:rPr sz="1700" b="1">
                <a:solidFill>
                  <a:srgbClr val="1F3864"/>
                </a:solidFill>
              </a:rPr>
              <a:t>R2 — Move the 59 units toward one operating model / shared services</a:t>
            </a:r>
          </a:p>
          <a:p>
            <a:pPr>
              <a:spcAft>
                <a:spcPts val="500"/>
              </a:spcAft>
            </a:pPr>
            <a:r>
              <a:rPr sz="1700" b="0" i="1">
                <a:solidFill>
                  <a:srgbClr val="C0392B"/>
                </a:solidFill>
              </a:rPr>
              <a:t>Assumption: a full ERP consolidation is NOT assumed to be the right answer yet — it should be a business case decided on spend, cost-to-serve and lock-in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1005840"/>
          </a:xfrm>
          <a:prstGeom prst="rect">
            <a:avLst/>
          </a:prstGeom>
          <a:noFill/>
        </p:spPr>
        <p:txBody>
          <a:bodyPr wrap="square">
            <a:spAutoFit/>
          </a:bodyPr>
          <a:lstStyle/>
          <a:p>
            <a:r>
              <a:rPr sz="2800" b="1">
                <a:solidFill>
                  <a:srgbClr val="1F3864"/>
                </a:solidFill>
              </a:rPr>
              <a:t>Why this is a priority — organisational factors</a:t>
            </a:r>
          </a:p>
          <a:p>
            <a:r>
              <a:rPr sz="1500" i="1">
                <a:solidFill>
                  <a:srgbClr val="C0392B"/>
                </a:solidFill>
              </a:rPr>
              <a:t>People · Process · Governance · Systems</a:t>
            </a:r>
          </a:p>
        </p:txBody>
      </p:sp>
      <p:sp>
        <p:nvSpPr>
          <p:cNvPr id="3" name="TextBox 2"/>
          <p:cNvSpPr txBox="1"/>
          <p:nvPr/>
        </p:nvSpPr>
        <p:spPr>
          <a:xfrm>
            <a:off x="548640" y="1280160"/>
            <a:ext cx="11064240" cy="5120640"/>
          </a:xfrm>
          <a:prstGeom prst="rect">
            <a:avLst/>
          </a:prstGeom>
          <a:noFill/>
        </p:spPr>
        <p:txBody>
          <a:bodyPr wrap="square">
            <a:spAutoFit/>
          </a:bodyPr>
          <a:lstStyle/>
          <a:p>
            <a:pPr>
              <a:spcAft>
                <a:spcPts val="500"/>
              </a:spcAft>
            </a:pPr>
            <a:r>
              <a:rPr sz="1500" b="1">
                <a:solidFill>
                  <a:srgbClr val="1F3864"/>
                </a:solidFill>
              </a:rPr>
              <a:t>People</a:t>
            </a:r>
          </a:p>
          <a:p>
            <a:pPr lvl="1">
              <a:spcAft>
                <a:spcPts val="500"/>
              </a:spcAft>
            </a:pPr>
            <a:r>
              <a:rPr sz="1400" b="0">
                <a:solidFill>
                  <a:srgbClr val="444444"/>
                </a:solidFill>
              </a:rPr>
              <a:t>Imbalanced teams (Team 1 understaffed, 2 vacancies, part-timers) + low morale + 'low-value' perception = limited capacity and appetite to deliver change.</a:t>
            </a:r>
          </a:p>
          <a:p>
            <a:pPr>
              <a:spcAft>
                <a:spcPts val="500"/>
              </a:spcAft>
            </a:pPr>
            <a:r>
              <a:rPr sz="1500" b="1">
                <a:solidFill>
                  <a:srgbClr val="1F3864"/>
                </a:solidFill>
              </a:rPr>
              <a:t>Process</a:t>
            </a:r>
          </a:p>
          <a:p>
            <a:pPr lvl="1">
              <a:spcAft>
                <a:spcPts val="500"/>
              </a:spcAft>
            </a:pPr>
            <a:r>
              <a:rPr sz="1400" b="0">
                <a:solidFill>
                  <a:srgbClr val="444444"/>
                </a:solidFill>
              </a:rPr>
              <a:t>No standard P2P, manual processes, catalogue proliferation, multiple orders for low-value items — inefficiency scales to 1.8M txns/day.</a:t>
            </a:r>
          </a:p>
          <a:p>
            <a:pPr>
              <a:spcAft>
                <a:spcPts val="500"/>
              </a:spcAft>
            </a:pPr>
            <a:r>
              <a:rPr sz="1500" b="1">
                <a:solidFill>
                  <a:srgbClr val="1F3864"/>
                </a:solidFill>
              </a:rPr>
              <a:t>Governance</a:t>
            </a:r>
          </a:p>
          <a:p>
            <a:pPr lvl="1">
              <a:spcAft>
                <a:spcPts val="500"/>
              </a:spcAft>
            </a:pPr>
            <a:r>
              <a:rPr sz="1400" b="0">
                <a:solidFill>
                  <a:srgbClr val="444444"/>
                </a:solidFill>
              </a:rPr>
              <a:t>No executive mandate; teams accountable but cannot enforce compliance across 59 units — this is what elevates everything to a priority.</a:t>
            </a:r>
          </a:p>
          <a:p>
            <a:pPr>
              <a:spcAft>
                <a:spcPts val="500"/>
              </a:spcAft>
            </a:pPr>
            <a:r>
              <a:rPr sz="1500" b="1">
                <a:solidFill>
                  <a:srgbClr val="1F3864"/>
                </a:solidFill>
              </a:rPr>
              <a:t>Systems</a:t>
            </a:r>
          </a:p>
          <a:p>
            <a:pPr lvl="1">
              <a:spcAft>
                <a:spcPts val="500"/>
              </a:spcAft>
            </a:pPr>
            <a:r>
              <a:rPr sz="1400" b="0">
                <a:solidFill>
                  <a:srgbClr val="444444"/>
                </a:solidFill>
              </a:rPr>
              <a:t>Three poorly integrated ERPs (Oracle/SAP/PeopleSoft) -&gt; manual rework, no consolidated spend data, high IT/training cost.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1005840"/>
          </a:xfrm>
          <a:prstGeom prst="rect">
            <a:avLst/>
          </a:prstGeom>
          <a:noFill/>
        </p:spPr>
        <p:txBody>
          <a:bodyPr wrap="square">
            <a:spAutoFit/>
          </a:bodyPr>
          <a:lstStyle/>
          <a:p>
            <a:r>
              <a:rPr sz="2800" b="1">
                <a:solidFill>
                  <a:srgbClr val="1F3864"/>
                </a:solidFill>
              </a:rPr>
              <a:t>Key risks, constraints &amp; dependencies affecting prioritisation</a:t>
            </a:r>
          </a:p>
        </p:txBody>
      </p:sp>
      <p:sp>
        <p:nvSpPr>
          <p:cNvPr id="3" name="TextBox 2"/>
          <p:cNvSpPr txBox="1"/>
          <p:nvPr/>
        </p:nvSpPr>
        <p:spPr>
          <a:xfrm>
            <a:off x="548640" y="1371600"/>
            <a:ext cx="11064240" cy="5120640"/>
          </a:xfrm>
          <a:prstGeom prst="rect">
            <a:avLst/>
          </a:prstGeom>
          <a:noFill/>
        </p:spPr>
        <p:txBody>
          <a:bodyPr wrap="square">
            <a:spAutoFit/>
          </a:bodyPr>
          <a:lstStyle/>
          <a:p>
            <a:pPr>
              <a:spcAft>
                <a:spcPts val="500"/>
              </a:spcAft>
            </a:pPr>
            <a:r>
              <a:rPr sz="1600" b="1">
                <a:solidFill>
                  <a:srgbClr val="1F3864"/>
                </a:solidFill>
              </a:rPr>
              <a:t>Dependency: executive sponsorship is the gating dependency — the plan stalls without it.</a:t>
            </a:r>
          </a:p>
          <a:p>
            <a:pPr>
              <a:spcAft>
                <a:spcPts val="500"/>
              </a:spcAft>
            </a:pPr>
            <a:r>
              <a:rPr sz="1600" b="0">
                <a:solidFill>
                  <a:srgbClr val="444444"/>
                </a:solidFill>
              </a:rPr>
              <a:t>Constraint: 59 autonomous units will resist giving up control (cultural).</a:t>
            </a:r>
          </a:p>
          <a:p>
            <a:pPr>
              <a:spcAft>
                <a:spcPts val="500"/>
              </a:spcAft>
            </a:pPr>
            <a:r>
              <a:rPr sz="1600" b="0">
                <a:solidFill>
                  <a:srgbClr val="444444"/>
                </a:solidFill>
              </a:rPr>
              <a:t>Constraint: multinational tax / statutory / regulatory rules limit a single standard.</a:t>
            </a:r>
          </a:p>
          <a:p>
            <a:pPr>
              <a:spcAft>
                <a:spcPts val="500"/>
              </a:spcAft>
            </a:pPr>
            <a:r>
              <a:rPr sz="1600" b="0">
                <a:solidFill>
                  <a:srgbClr val="444444"/>
                </a:solidFill>
              </a:rPr>
              <a:t>Constraint: thin Team 1 capacity + low morale limit bandwidth to absorb change.</a:t>
            </a:r>
          </a:p>
          <a:p>
            <a:pPr>
              <a:spcAft>
                <a:spcPts val="500"/>
              </a:spcAft>
            </a:pPr>
            <a:r>
              <a:rPr sz="1600" b="0">
                <a:solidFill>
                  <a:srgbClr val="444444"/>
                </a:solidFill>
              </a:rPr>
              <a:t>Risk: ERP consolidation carries cost, business-continuity and data-migration risk.</a:t>
            </a:r>
          </a:p>
          <a:p>
            <a:pPr>
              <a:spcAft>
                <a:spcPts val="500"/>
              </a:spcAft>
            </a:pPr>
            <a:r>
              <a:rPr sz="1600" b="0">
                <a:solidFill>
                  <a:srgbClr val="444444"/>
                </a:solidFill>
              </a:rPr>
              <a:t>Risk: ongoing M&amp;A may keep re-introducing fragmentation; contractual lock-ins on systems/suppliers.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1005840"/>
          </a:xfrm>
          <a:prstGeom prst="rect">
            <a:avLst/>
          </a:prstGeom>
          <a:noFill/>
        </p:spPr>
        <p:txBody>
          <a:bodyPr wrap="square">
            <a:spAutoFit/>
          </a:bodyPr>
          <a:lstStyle/>
          <a:p>
            <a:r>
              <a:rPr sz="2800" b="1">
                <a:solidFill>
                  <a:srgbClr val="1F3864"/>
                </a:solidFill>
              </a:rPr>
              <a:t>Information needed before confirming priorities</a:t>
            </a:r>
          </a:p>
        </p:txBody>
      </p:sp>
      <p:sp>
        <p:nvSpPr>
          <p:cNvPr id="3" name="TextBox 2"/>
          <p:cNvSpPr txBox="1"/>
          <p:nvPr/>
        </p:nvSpPr>
        <p:spPr>
          <a:xfrm>
            <a:off x="548640" y="1371600"/>
            <a:ext cx="11064240" cy="5120640"/>
          </a:xfrm>
          <a:prstGeom prst="rect">
            <a:avLst/>
          </a:prstGeom>
          <a:noFill/>
        </p:spPr>
        <p:txBody>
          <a:bodyPr wrap="square">
            <a:spAutoFit/>
          </a:bodyPr>
          <a:lstStyle/>
          <a:p>
            <a:pPr>
              <a:spcAft>
                <a:spcPts val="500"/>
              </a:spcAft>
            </a:pPr>
            <a:r>
              <a:rPr sz="1700" b="0">
                <a:solidFill>
                  <a:srgbClr val="444444"/>
                </a:solidFill>
              </a:rPr>
              <a:t>Spend by unit / category / supplier, and supplier overlap across units.</a:t>
            </a:r>
          </a:p>
          <a:p>
            <a:pPr>
              <a:spcAft>
                <a:spcPts val="500"/>
              </a:spcAft>
            </a:pPr>
            <a:r>
              <a:rPr sz="1700" b="0">
                <a:solidFill>
                  <a:srgbClr val="444444"/>
                </a:solidFill>
              </a:rPr>
              <a:t>Invoice volumes, cycle times, late-payment penalties and maverick-spend rates.</a:t>
            </a:r>
          </a:p>
          <a:p>
            <a:pPr>
              <a:spcAft>
                <a:spcPts val="500"/>
              </a:spcAft>
            </a:pPr>
            <a:r>
              <a:rPr sz="1700" b="0">
                <a:solidFill>
                  <a:srgbClr val="444444"/>
                </a:solidFill>
              </a:rPr>
              <a:t>Cost of running the three ERPs (licences + support).</a:t>
            </a:r>
          </a:p>
          <a:p>
            <a:pPr>
              <a:spcAft>
                <a:spcPts val="500"/>
              </a:spcAft>
            </a:pPr>
            <a:r>
              <a:rPr sz="1700" b="0">
                <a:solidFill>
                  <a:srgbClr val="444444"/>
                </a:solidFill>
              </a:rPr>
              <a:t>Share of the 1.8M daily transactions that is low-value/tail vs strategic, and cost-to-process per order.</a:t>
            </a:r>
          </a:p>
          <a:p>
            <a:pPr>
              <a:spcAft>
                <a:spcPts val="500"/>
              </a:spcAft>
            </a:pPr>
            <a:r>
              <a:rPr sz="1700" b="0">
                <a:solidFill>
                  <a:srgbClr val="444444"/>
                </a:solidFill>
              </a:rPr>
              <a:t>Number of catalogue items and contracts; contractual lock-ins.</a:t>
            </a:r>
          </a:p>
          <a:p>
            <a:pPr>
              <a:spcAft>
                <a:spcPts val="500"/>
              </a:spcAft>
            </a:pPr>
            <a:r>
              <a:rPr sz="1700" b="0">
                <a:solidFill>
                  <a:srgbClr val="444444"/>
                </a:solidFill>
              </a:rPr>
              <a:t>Budget, timeline and genuine executive appetite for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1005840"/>
          </a:xfrm>
          <a:prstGeom prst="rect">
            <a:avLst/>
          </a:prstGeom>
          <a:noFill/>
        </p:spPr>
        <p:txBody>
          <a:bodyPr wrap="square">
            <a:spAutoFit/>
          </a:bodyPr>
          <a:lstStyle/>
          <a:p>
            <a:r>
              <a:rPr sz="2800" b="1">
                <a:solidFill>
                  <a:srgbClr val="1F3864"/>
                </a:solidFill>
              </a:rPr>
              <a:t>3. Five questions for the client</a:t>
            </a:r>
          </a:p>
          <a:p>
            <a:r>
              <a:rPr sz="1500" i="1">
                <a:solidFill>
                  <a:srgbClr val="C0392B"/>
                </a:solidFill>
              </a:rPr>
              <a:t>To better inform our work</a:t>
            </a:r>
          </a:p>
        </p:txBody>
      </p:sp>
      <p:sp>
        <p:nvSpPr>
          <p:cNvPr id="3" name="TextBox 2"/>
          <p:cNvSpPr txBox="1"/>
          <p:nvPr/>
        </p:nvSpPr>
        <p:spPr>
          <a:xfrm>
            <a:off x="548640" y="1280160"/>
            <a:ext cx="11064240" cy="5120640"/>
          </a:xfrm>
          <a:prstGeom prst="rect">
            <a:avLst/>
          </a:prstGeom>
          <a:noFill/>
        </p:spPr>
        <p:txBody>
          <a:bodyPr wrap="square">
            <a:spAutoFit/>
          </a:bodyPr>
          <a:lstStyle/>
          <a:p>
            <a:pPr>
              <a:spcAft>
                <a:spcPts val="500"/>
              </a:spcAft>
            </a:pPr>
            <a:r>
              <a:rPr sz="1500" b="1">
                <a:solidFill>
                  <a:srgbClr val="1F3864"/>
                </a:solidFill>
              </a:rPr>
              <a:t>1.  Spend &amp; suppliers — total spend, split across the 59 units, and how much supplier overlap exists between them?</a:t>
            </a:r>
          </a:p>
          <a:p>
            <a:pPr>
              <a:spcAft>
                <a:spcPts val="500"/>
              </a:spcAft>
            </a:pPr>
            <a:r>
              <a:rPr sz="1500" b="1">
                <a:solidFill>
                  <a:srgbClr val="1F3864"/>
                </a:solidFill>
              </a:rPr>
              <a:t>2.  Governance — is there executive appetite to mandate a single, compliant operating model, and who would sponsor it?</a:t>
            </a:r>
          </a:p>
          <a:p>
            <a:pPr>
              <a:spcAft>
                <a:spcPts val="500"/>
              </a:spcAft>
            </a:pPr>
            <a:r>
              <a:rPr sz="1500" b="1">
                <a:solidFill>
                  <a:srgbClr val="1F3864"/>
                </a:solidFill>
              </a:rPr>
              <a:t>3.  Transaction mix — of the 1.8M daily transactions, what share is low-value/tail, and what does one order cost to process today?</a:t>
            </a:r>
          </a:p>
          <a:p>
            <a:pPr>
              <a:spcAft>
                <a:spcPts val="500"/>
              </a:spcAft>
            </a:pPr>
            <a:r>
              <a:rPr sz="1500" b="1">
                <a:solidFill>
                  <a:srgbClr val="1F3864"/>
                </a:solidFill>
              </a:rPr>
              <a:t>4.  Systems — is ERP consolidation on the table, what lock-ins exist, and is the target shared services or continued unit autonomy?</a:t>
            </a:r>
          </a:p>
          <a:p>
            <a:pPr>
              <a:spcAft>
                <a:spcPts val="500"/>
              </a:spcAft>
            </a:pPr>
            <a:r>
              <a:rPr sz="1500" b="1">
                <a:solidFill>
                  <a:srgbClr val="1F3864"/>
                </a:solidFill>
              </a:rPr>
              <a:t>5.  People — what's driving low morale, are Team 1's vacancies funded, and can resource move between the two teams?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