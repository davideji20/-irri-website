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864"/>
                </a:solidFill>
              </a:rPr>
              <a:t>Procurement Transformation — Problem Analysis &amp; Prioritisation</a:t>
            </a:r>
          </a:p>
          <a:p>
            <a:r>
              <a:rPr sz="1700">
                <a:solidFill>
                  <a:srgbClr val="444444"/>
                </a:solidFill>
              </a:rPr>
              <a:t>Client: Multinational Semiconductor Major  |  Prepared for the Manager's internal review</a:t>
            </a:r>
          </a:p>
          <a:p>
            <a:r>
              <a:rPr sz="1500" i="1">
                <a:solidFill>
                  <a:srgbClr val="C0392B"/>
                </a:solidFill>
              </a:rPr>
              <a:t>1. The issues   2. Prioritisation   3. Questions for the client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Context: one company running as 59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A multinational semiconductor major grew through M&amp;A but never integrated the acquired businesses.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59 operating locations run as independent organisations, each with its own: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Procurement processes and process design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Supplier community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Back-end systems (Oracle, SAP, PeopleSoft)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Two central procurement teams are accountable for end-to-end process across all 59 locations.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Scale: ~1.8 million procurement transactions every day — so every inefficiency is multiplied massively.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An internal analysis by the manager surfaced the issues on the following slides.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1.  The Issues</a:t>
            </a:r>
          </a:p>
          <a:p>
            <a:r>
              <a:rPr sz="1500" i="1">
                <a:solidFill>
                  <a:srgbClr val="C0392B"/>
                </a:solidFill>
              </a:rPr>
              <a:t>Problem statement | Evidence | Business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We have grouped the findings into ROOT CAUSES (the drivers) and SYMPTOMS (what hurts day to day).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Root causes: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R1 — No executive sponsorship / governance to enforce compliance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R2 — Fragmented operating model: 59 independent units from M&amp;A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R3 — No standardised process design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R4 — Fragmented, poorly integrated systems (Oracle / SAP / PeopleSoft)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864"/>
                </a:solidFill>
              </a:rPr>
              <a:t>Symptoms: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S1 — Protracted payables    S2 — Lost economies of scale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S3 — Catalogue proliferation &amp; tail spend    S4 — Resourcing imbalance    S5 — Low morale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R1 — No executive sponsorship / 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 two central teams are accountable for end-to-end process but have no executive mandate to enforce compliance across the 59 units.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'lack of executive support to drive compliance'; 'keeping control of all 59 is a huge challenge'.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Standardisation cannot be enforced. Every other fix stalls without this — it is the keystone issue.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R2 — Fragmented operating model (59 independent units)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M&amp;A bolted businesses together but never integrated them; each unit runs its own procurement, suppliers and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59 locations operating as independent organisations with different supplier communities and back-end processes.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Duplication of effort and contracts, no single source of truth, and no aggregated buying leverage.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R3 — No standardised process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There is no common procure-to-pay process; each unit invoices and buys its own way.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'lack of standard process design'; staff must be upskilled to process invoices many different ways.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Errors, slow cycle times, high training burden, and no end-to-end control or visibility.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R4 — Fragmented, poorly integrated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Problem statement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Three or more ERPs (Oracle, SAP, PeopleSoft) operate in parallel with weak integration, forcing manual workarounds.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Evidence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Internal analysis: systems 'not well integrated', 'a lot of manual processes' needed; staff upskilled across many systems.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Impact on the business</a:t>
            </a:r>
          </a:p>
          <a:p>
            <a:pPr lvl="1"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Manual rework, reconciliation pain, high IT/training cost, and no consolidated spend data.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Symptoms — what these root causes produce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S1  Protracted payables (stated in the analysis)</a:t>
            </a:r>
          </a:p>
          <a:p>
            <a:pPr lvl="1">
              <a:spcAft>
                <a:spcPts val="600"/>
              </a:spcAft>
            </a:pPr>
            <a:r>
              <a:rPr sz="1400" b="0" i="1">
                <a:solidFill>
                  <a:srgbClr val="C0392B"/>
                </a:solidFill>
              </a:rPr>
              <a:t>Assumption: this drives late-payment penalties, strained supplier relationships and lost early-payment discounts.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S2  Lost economies of scale (stated)</a:t>
            </a:r>
          </a:p>
          <a:p>
            <a:pPr lvl="1">
              <a:spcAft>
                <a:spcPts val="600"/>
              </a:spcAft>
            </a:pPr>
            <a:r>
              <a:rPr sz="1400" b="0" i="1">
                <a:solidFill>
                  <a:srgbClr val="C0392B"/>
                </a:solidFill>
              </a:rPr>
              <a:t>Assumption: fragmented spend means higher unit prices, duplicate contracts and no volume discounts.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S3  Catalogue proliferation &amp; tail spend (stated)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Low-value items require multiple orders to different suppliers — costly at 1.8M txns/day.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S4  Resourcing imbalance (stated)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</a:rPr>
              <a:t>Team 1: 2 FTE + part-timers + 2 vacancies (slow).  Team 2: 7 + 2 seniors (fast). Inconsistent service.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S5  Low morale / perception (stated)</a:t>
            </a:r>
          </a:p>
          <a:p>
            <a:pPr lvl="1">
              <a:spcAft>
                <a:spcPts val="600"/>
              </a:spcAft>
            </a:pPr>
            <a:r>
              <a:rPr sz="1400" b="0" i="1">
                <a:solidFill>
                  <a:srgbClr val="C0392B"/>
                </a:solidFill>
              </a:rPr>
              <a:t>Assumption: this creates attrition risk and change fatigue.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Which issue matters most?</a:t>
            </a:r>
          </a:p>
          <a:p>
            <a:r>
              <a:rPr sz="1500" i="1">
                <a:solidFill>
                  <a:srgbClr val="C0392B"/>
                </a:solidFill>
              </a:rPr>
              <a:t>Our 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F3864"/>
                </a:solidFill>
              </a:rPr>
              <a:t>Most important = R1: secure executive sponsorship and a governance mandate.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It is not the most expensive problem, but it is the dependency that unblocks everything else.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With 59 autonomous units, you cannot standardise processes, consolidate systems or rationalise suppliers unless leadership mandates compliance.</a:t>
            </a:r>
          </a:p>
          <a:p>
            <a:pPr lvl="1"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Low cost, high leverage — fix it first.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2.  Prioritisation</a:t>
            </a:r>
          </a:p>
          <a:p>
            <a:r>
              <a:rPr sz="1500" i="1">
                <a:solidFill>
                  <a:srgbClr val="C0392B"/>
                </a:solidFill>
              </a:rPr>
              <a:t>Three high-impact moves first — not a full redesign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</a:rPr>
              <a:t>We deliberately focus on a few high-impact, low-disruption actions rather than a multi-year transformation: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</a:rPr>
              <a:t>1.  R1 — Secure executive sponsorship &amp; a compliance mandate</a:t>
            </a:r>
          </a:p>
          <a:p>
            <a:pPr lvl="2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</a:rPr>
              <a:t>Low cost, fast, and unlocks every other fix. Highest leverage move available.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</a:rPr>
              <a:t>2.  R3 + S3 — Standardise the procure-to-pay process &amp; rationalise catalogue / tail spend</a:t>
            </a:r>
          </a:p>
          <a:p>
            <a:pPr lvl="2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</a:rPr>
              <a:t>Biggest near-term efficiency gain at 1.8M txns/day — achievable WITHOUT replacing systems.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444444"/>
                </a:solidFill>
              </a:rPr>
              <a:t>3.  S4 — Rebalance the two central teams (fill Team 1 vacancies / shift workload)</a:t>
            </a:r>
          </a:p>
          <a:p>
            <a:pPr lvl="2">
              <a:spcAft>
                <a:spcPts val="600"/>
              </a:spcAft>
            </a:pPr>
            <a:r>
              <a:rPr sz="1300" b="0">
                <a:solidFill>
                  <a:srgbClr val="444444"/>
                </a:solidFill>
              </a:rPr>
              <a:t>Fast operational win that lifts throughput and morale.</a:t>
            </a:r>
          </a:p>
          <a:p>
            <a:pPr>
              <a:spcAft>
                <a:spcPts val="600"/>
              </a:spcAft>
            </a:pPr>
            <a:r>
              <a:rPr sz="1500" b="0" i="1">
                <a:solidFill>
                  <a:srgbClr val="C0392B"/>
                </a:solidFill>
              </a:rPr>
              <a:t>Assumption: these three deliver most of the benefit; bigger structural changes are deferred until data justifies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Longer-term — only if the data justifies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</a:rPr>
              <a:t>These are higher cost / higher risk, so treat as later-stage options, not day-one commitments: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R4 — Consolidate / better integrate the ERPs (Oracle, SAP, PeopleSoft)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S2 — Rationalise the supplier base to rebuild buying leverage</a:t>
            </a:r>
          </a:p>
          <a:p>
            <a:pPr lvl="1">
              <a:spcAft>
                <a:spcPts val="600"/>
              </a:spcAft>
            </a:pPr>
            <a:r>
              <a:rPr sz="1500" b="1">
                <a:solidFill>
                  <a:srgbClr val="444444"/>
                </a:solidFill>
              </a:rPr>
              <a:t>R2 — Move the 59 units toward one operating model / shared services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a full ERP consolidation is NOT assumed to be the right answer yet — it should be a business case decided on spend, cost-to-serve and lock-in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Risks, dependencies &amp; organisational factors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Cultural resistance from 59 autonomous units to giving up control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1F3864"/>
                </a:solidFill>
              </a:rPr>
              <a:t>Lack of executive support is itself the #1 dependency — the plan stalls without it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ERP consolidation carries cost, business-continuity and data-migration risk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Multinational complexity — local tax / statutory / regulatory rules limit a single standard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Low morale + thin Team 1 capacity — limited bandwidth to absorb change work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Ongoing M&amp;A may keep re-introducing fragmentation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Contractual lock-ins on systems and suppliers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Information needed before confirming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Spend cube — spend by unit / category / supplier, and supplier overlap across units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Invoice volumes, cycle times, late-payment penalties, error / maverick-spend rates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Cost of running the three ERPs (licences + support)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Share of the 1.8M daily transactions that is low-value/tail vs strategic, and cost-to-process per order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Number of catalogue items and contracts; contractual lock-ins</a:t>
            </a:r>
          </a:p>
          <a:p>
            <a:pPr>
              <a:spcAft>
                <a:spcPts val="600"/>
              </a:spcAft>
            </a:pPr>
            <a:r>
              <a:rPr sz="1700" b="0">
                <a:solidFill>
                  <a:srgbClr val="444444"/>
                </a:solidFill>
              </a:rPr>
              <a:t>Budget, timeline and genuine executive appetite for change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Assumptions we have made</a:t>
            </a:r>
          </a:p>
          <a:p>
            <a:r>
              <a:rPr sz="1500" i="1">
                <a:solidFill>
                  <a:srgbClr val="C0392B"/>
                </a:solidFill>
              </a:rPr>
              <a:t>To be confirmed with the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protracted payables are causing real cost (penalties, lost discounts) — not yet quantified.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fragmented spend is losing meaningful volume discounts across the 59 units.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a large share of the 1.8M daily transactions is low-value/tail spend that can be consolidated.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executive sponsorship is currently absent rather than present-but-ignored.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the three named ERPs are the main systems; there may be more across 59 units.</a:t>
            </a:r>
          </a:p>
          <a:p>
            <a:pPr>
              <a:spcAft>
                <a:spcPts val="600"/>
              </a:spcAft>
            </a:pPr>
            <a:r>
              <a:rPr sz="1600" b="0" i="1">
                <a:solidFill>
                  <a:srgbClr val="C0392B"/>
                </a:solidFill>
              </a:rPr>
              <a:t>Assumption: standardising process and catalogue delivers most of the benefit before any system replacement.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864"/>
                </a:solidFill>
              </a:rPr>
              <a:t>3.  Five questions for the client</a:t>
            </a:r>
          </a:p>
          <a:p>
            <a:r>
              <a:rPr sz="1500" i="1">
                <a:solidFill>
                  <a:srgbClr val="C0392B"/>
                </a:solidFill>
              </a:rPr>
              <a:t>To better inform our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1.  Spend &amp; suppliers — What is total procurement spend, how does it split across the 59 units, and how much supplier overlap exists between them?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2.  Governance — Is there executive appetite to mandate a single, compliant operating model, and who would sponsor it?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3.  Transaction mix — Of the 1.8M daily transactions, what share is low-value/tail spend, and what does it cost to process one order today?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4.  Systems — Is ERP consolidation on the table, what contractual lock-ins exist, and is the target a shared-services model or continued unit autonomy?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1F3864"/>
                </a:solidFill>
              </a:rPr>
              <a:t>5.  People — What is driving the low morale, are Team 1's vacancies funded, and can resource move between the two central teams?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