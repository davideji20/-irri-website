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2377440"/>
          </a:xfrm>
          <a:prstGeom prst="rect">
            <a:avLst/>
          </a:prstGeom>
          <a:noFill/>
        </p:spPr>
        <p:txBody>
          <a:bodyPr wrap="square">
            <a:spAutoFit/>
          </a:bodyPr>
          <a:lstStyle/>
          <a:p>
            <a:r>
              <a:rPr sz="3400" b="1">
                <a:solidFill>
                  <a:srgbClr val="1F3864"/>
                </a:solidFill>
              </a:rPr>
              <a:t>Procurement Problem Analysis and Prioritisation</a:t>
            </a:r>
          </a:p>
          <a:p>
            <a:r>
              <a:rPr sz="1700">
                <a:solidFill>
                  <a:srgbClr val="444444"/>
                </a:solidFill>
              </a:rPr>
              <a:t>Client: a multinational semiconductor major  |  Manager's internal review</a:t>
            </a:r>
          </a:p>
          <a:p>
            <a:r>
              <a:rPr sz="1500" i="1">
                <a:solidFill>
                  <a:srgbClr val="C0392B"/>
                </a:solidFill>
              </a:rPr>
              <a:t>1. The issues, evidence and impact     2. What to prioritise     3. Questions for the client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The situation: one company running as 59</a:t>
            </a:r>
          </a:p>
        </p:txBody>
      </p:sp>
      <p:sp>
        <p:nvSpPr>
          <p:cNvPr id="3" name="TextBox 2"/>
          <p:cNvSpPr txBox="1"/>
          <p:nvPr/>
        </p:nvSpPr>
        <p:spPr>
          <a:xfrm>
            <a:off x="548640" y="1371600"/>
            <a:ext cx="11064240" cy="5120640"/>
          </a:xfrm>
          <a:prstGeom prst="rect">
            <a:avLst/>
          </a:prstGeom>
          <a:noFill/>
        </p:spPr>
        <p:txBody>
          <a:bodyPr wrap="square">
            <a:spAutoFit/>
          </a:bodyPr>
          <a:lstStyle/>
          <a:p>
            <a:pPr>
              <a:spcAft>
                <a:spcPts val="500"/>
              </a:spcAft>
            </a:pPr>
            <a:r>
              <a:rPr sz="1700" b="1">
                <a:solidFill>
                  <a:srgbClr val="1F3864"/>
                </a:solidFill>
              </a:rPr>
              <a:t>This is really one problem, not 59. The company grew through acquisitions but never brought those businesses together.</a:t>
            </a:r>
          </a:p>
          <a:p>
            <a:pPr>
              <a:spcAft>
                <a:spcPts val="500"/>
              </a:spcAft>
            </a:pPr>
            <a:r>
              <a:rPr sz="1700" b="0">
                <a:solidFill>
                  <a:srgbClr val="444444"/>
                </a:solidFill>
              </a:rPr>
              <a:t>All 59 sites still run as separate organisations, each with its own procurement, supplier base and back-end systems (Oracle, SAP and PeopleSoft).</a:t>
            </a:r>
          </a:p>
          <a:p>
            <a:pPr>
              <a:spcAft>
                <a:spcPts val="500"/>
              </a:spcAft>
            </a:pPr>
            <a:r>
              <a:rPr sz="1700" b="0">
                <a:solidFill>
                  <a:srgbClr val="444444"/>
                </a:solidFill>
              </a:rPr>
              <a:t>Two central teams are meant to cover procurement across every site.</a:t>
            </a:r>
          </a:p>
          <a:p>
            <a:pPr>
              <a:spcAft>
                <a:spcPts val="500"/>
              </a:spcAft>
            </a:pPr>
            <a:r>
              <a:rPr sz="1700" b="1">
                <a:solidFill>
                  <a:srgbClr val="1F3864"/>
                </a:solidFill>
              </a:rPr>
              <a:t>The company handles about 1.8 million procurement transactions a day, so even a small inefficiency adds up fast.</a:t>
            </a:r>
          </a:p>
          <a:p>
            <a:pPr>
              <a:spcAft>
                <a:spcPts val="500"/>
              </a:spcAft>
            </a:pPr>
            <a:r>
              <a:rPr sz="1700" b="0">
                <a:solidFill>
                  <a:srgbClr val="444444"/>
                </a:solidFill>
              </a:rPr>
              <a:t>Everything here comes from the manager's own internal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1. The issues: root causes (the real drivers)</a:t>
            </a:r>
          </a:p>
          <a:p>
            <a:r>
              <a:rPr sz="1500" i="1">
                <a:solidFill>
                  <a:srgbClr val="C0392B"/>
                </a:solidFill>
              </a:rPr>
              <a:t>Problem, evidence and business impact</a:t>
            </a:r>
          </a:p>
        </p:txBody>
      </p:sp>
      <p:sp>
        <p:nvSpPr>
          <p:cNvPr id="3" name="TextBox 2"/>
          <p:cNvSpPr txBox="1"/>
          <p:nvPr/>
        </p:nvSpPr>
        <p:spPr>
          <a:xfrm>
            <a:off x="548640" y="1371600"/>
            <a:ext cx="11064240" cy="5120640"/>
          </a:xfrm>
          <a:prstGeom prst="rect">
            <a:avLst/>
          </a:prstGeom>
          <a:noFill/>
        </p:spPr>
        <p:txBody>
          <a:bodyPr wrap="square">
            <a:spAutoFit/>
          </a:bodyPr>
          <a:lstStyle/>
          <a:p>
            <a:pPr>
              <a:spcAft>
                <a:spcPts val="500"/>
              </a:spcAft>
            </a:pPr>
            <a:r>
              <a:rPr sz="1600" b="1">
                <a:solidFill>
                  <a:srgbClr val="1F3864"/>
                </a:solidFill>
              </a:rPr>
              <a:t>R1  No executive backing to enforce a common way of working</a:t>
            </a:r>
          </a:p>
          <a:p>
            <a:pPr lvl="1">
              <a:spcAft>
                <a:spcPts val="500"/>
              </a:spcAft>
            </a:pPr>
            <a:r>
              <a:rPr sz="1500" b="0">
                <a:solidFill>
                  <a:srgbClr val="444444"/>
                </a:solidFill>
              </a:rPr>
              <a:t>The central teams are responsible for the process but have no authority to make 59 independent sites follow it, so nothing gets standardised. This is the one that holds everything else back.</a:t>
            </a:r>
          </a:p>
          <a:p>
            <a:pPr>
              <a:spcAft>
                <a:spcPts val="500"/>
              </a:spcAft>
            </a:pPr>
            <a:r>
              <a:rPr sz="1600" b="1">
                <a:solidFill>
                  <a:srgbClr val="1F3864"/>
                </a:solidFill>
              </a:rPr>
              <a:t>R2  59 separate units from M&amp;A that were never joined up</a:t>
            </a:r>
          </a:p>
          <a:p>
            <a:pPr lvl="1">
              <a:spcAft>
                <a:spcPts val="500"/>
              </a:spcAft>
            </a:pPr>
            <a:r>
              <a:rPr sz="1500" b="0">
                <a:solidFill>
                  <a:srgbClr val="444444"/>
                </a:solidFill>
              </a:rPr>
              <a:t>Each has its own processes, suppliers and systems, which means duplication, no single view of spend and no buying power.</a:t>
            </a:r>
          </a:p>
          <a:p>
            <a:pPr>
              <a:spcAft>
                <a:spcPts val="500"/>
              </a:spcAft>
            </a:pPr>
            <a:r>
              <a:rPr sz="1600" b="1">
                <a:solidFill>
                  <a:srgbClr val="1F3864"/>
                </a:solidFill>
              </a:rPr>
              <a:t>R3  No standard process</a:t>
            </a:r>
          </a:p>
          <a:p>
            <a:pPr lvl="1">
              <a:spcAft>
                <a:spcPts val="500"/>
              </a:spcAft>
            </a:pPr>
            <a:r>
              <a:rPr sz="1500" b="0">
                <a:solidFill>
                  <a:srgbClr val="444444"/>
                </a:solidFill>
              </a:rPr>
              <a:t>Staff are trained to process invoices in lots of different ways, which causes errors, slow cycles and poor visibility.</a:t>
            </a:r>
          </a:p>
          <a:p>
            <a:pPr>
              <a:spcAft>
                <a:spcPts val="500"/>
              </a:spcAft>
            </a:pPr>
            <a:r>
              <a:rPr sz="1600" b="1">
                <a:solidFill>
                  <a:srgbClr val="1F3864"/>
                </a:solidFill>
              </a:rPr>
              <a:t>R4  Systems that barely talk to each other</a:t>
            </a:r>
          </a:p>
          <a:p>
            <a:pPr lvl="1">
              <a:spcAft>
                <a:spcPts val="500"/>
              </a:spcAft>
            </a:pPr>
            <a:r>
              <a:rPr sz="1500" b="0">
                <a:solidFill>
                  <a:srgbClr val="444444"/>
                </a:solidFill>
              </a:rPr>
              <a:t>Three ERPs (Oracle, SAP, PeopleSoft) are poorly connected, so people fall back on manual workarounds and there is no joined-up spend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1. The issues: what it costs day to day</a:t>
            </a:r>
          </a:p>
        </p:txBody>
      </p:sp>
      <p:sp>
        <p:nvSpPr>
          <p:cNvPr id="3" name="TextBox 2"/>
          <p:cNvSpPr txBox="1"/>
          <p:nvPr/>
        </p:nvSpPr>
        <p:spPr>
          <a:xfrm>
            <a:off x="548640" y="1280160"/>
            <a:ext cx="11064240" cy="5120640"/>
          </a:xfrm>
          <a:prstGeom prst="rect">
            <a:avLst/>
          </a:prstGeom>
          <a:noFill/>
        </p:spPr>
        <p:txBody>
          <a:bodyPr wrap="square">
            <a:spAutoFit/>
          </a:bodyPr>
          <a:lstStyle/>
          <a:p>
            <a:pPr>
              <a:spcAft>
                <a:spcPts val="500"/>
              </a:spcAft>
            </a:pPr>
            <a:r>
              <a:rPr sz="1500" b="1">
                <a:solidFill>
                  <a:srgbClr val="1F3864"/>
                </a:solidFill>
              </a:rPr>
              <a:t>S1  Slow payments to suppliers (from the analysis)</a:t>
            </a:r>
          </a:p>
          <a:p>
            <a:pPr lvl="1">
              <a:spcAft>
                <a:spcPts val="500"/>
              </a:spcAft>
            </a:pPr>
            <a:r>
              <a:rPr sz="1400" b="0" i="1">
                <a:solidFill>
                  <a:srgbClr val="C0392B"/>
                </a:solidFill>
              </a:rPr>
              <a:t>Assumption: this likely brings late-payment charges, missed early-payment discounts and frustrated suppliers.</a:t>
            </a:r>
          </a:p>
          <a:p>
            <a:pPr>
              <a:spcAft>
                <a:spcPts val="500"/>
              </a:spcAft>
            </a:pPr>
            <a:r>
              <a:rPr sz="1500" b="1">
                <a:solidFill>
                  <a:srgbClr val="1F3864"/>
                </a:solidFill>
              </a:rPr>
              <a:t>S2  Loss of buying power (from the analysis)</a:t>
            </a:r>
          </a:p>
          <a:p>
            <a:pPr lvl="1">
              <a:spcAft>
                <a:spcPts val="500"/>
              </a:spcAft>
            </a:pPr>
            <a:r>
              <a:rPr sz="1400" b="0">
                <a:solidFill>
                  <a:srgbClr val="444444"/>
                </a:solidFill>
              </a:rPr>
              <a:t>Spread across so many suppliers, the company pays more and ends up with duplicate contracts (see the next slide).</a:t>
            </a:r>
          </a:p>
          <a:p>
            <a:pPr>
              <a:spcAft>
                <a:spcPts val="500"/>
              </a:spcAft>
            </a:pPr>
            <a:r>
              <a:rPr sz="1500" b="1">
                <a:solidFill>
                  <a:srgbClr val="1F3864"/>
                </a:solidFill>
              </a:rPr>
              <a:t>S3  Too many catalogue items and small purchases (from the analysis)</a:t>
            </a:r>
          </a:p>
          <a:p>
            <a:pPr lvl="1">
              <a:spcAft>
                <a:spcPts val="500"/>
              </a:spcAft>
            </a:pPr>
            <a:r>
              <a:rPr sz="1400" b="0">
                <a:solidFill>
                  <a:srgbClr val="444444"/>
                </a:solidFill>
              </a:rPr>
              <a:t>A single low-value item can mean several separate orders to different suppliers, which is expensive at 1.8 million transactions a day.</a:t>
            </a:r>
          </a:p>
          <a:p>
            <a:pPr>
              <a:spcAft>
                <a:spcPts val="500"/>
              </a:spcAft>
            </a:pPr>
            <a:r>
              <a:rPr sz="1500" b="1">
                <a:solidFill>
                  <a:srgbClr val="1F3864"/>
                </a:solidFill>
              </a:rPr>
              <a:t>S4  Uneven teams (from the analysis)</a:t>
            </a:r>
          </a:p>
          <a:p>
            <a:pPr lvl="1">
              <a:spcAft>
                <a:spcPts val="500"/>
              </a:spcAft>
            </a:pPr>
            <a:r>
              <a:rPr sz="1400" b="0">
                <a:solidFill>
                  <a:srgbClr val="444444"/>
                </a:solidFill>
              </a:rPr>
              <a:t>Team 1 has 2 full-timers plus part-timers and 2 open roles, and is slow. Team 2 has 7 people plus 2 seniors and is much quicker.</a:t>
            </a:r>
          </a:p>
          <a:p>
            <a:pPr>
              <a:spcAft>
                <a:spcPts val="500"/>
              </a:spcAft>
            </a:pPr>
            <a:r>
              <a:rPr sz="1500" b="1">
                <a:solidFill>
                  <a:srgbClr val="1F3864"/>
                </a:solidFill>
              </a:rPr>
              <a:t>S5  Low morale, with procurement seen as low-value admin (from the analysis)</a:t>
            </a:r>
          </a:p>
          <a:p>
            <a:pPr lvl="1">
              <a:spcAft>
                <a:spcPts val="500"/>
              </a:spcAft>
            </a:pPr>
            <a:r>
              <a:rPr sz="1400" b="0" i="1">
                <a:solidFill>
                  <a:srgbClr val="C0392B"/>
                </a:solidFill>
              </a:rPr>
              <a:t>Assumption: this risks people leaving and makes change harder.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Evidence: the supplier base is growing, not consolidating</a:t>
            </a:r>
          </a:p>
        </p:txBody>
      </p:sp>
      <p:sp>
        <p:nvSpPr>
          <p:cNvPr id="3" name="TextBox 2"/>
          <p:cNvSpPr txBox="1"/>
          <p:nvPr/>
        </p:nvSpPr>
        <p:spPr>
          <a:xfrm>
            <a:off x="548640" y="1371600"/>
            <a:ext cx="11064240" cy="5120640"/>
          </a:xfrm>
          <a:prstGeom prst="rect">
            <a:avLst/>
          </a:prstGeom>
          <a:noFill/>
        </p:spPr>
        <p:txBody>
          <a:bodyPr wrap="square">
            <a:spAutoFit/>
          </a:bodyPr>
          <a:lstStyle/>
          <a:p>
            <a:pPr>
              <a:spcAft>
                <a:spcPts val="500"/>
              </a:spcAft>
            </a:pPr>
            <a:r>
              <a:rPr sz="1600" b="1">
                <a:solidFill>
                  <a:srgbClr val="1F3864"/>
                </a:solidFill>
              </a:rPr>
              <a:t>2023:  224 suppliers,  $900M spend</a:t>
            </a:r>
          </a:p>
          <a:p>
            <a:pPr>
              <a:spcAft>
                <a:spcPts val="500"/>
              </a:spcAft>
            </a:pPr>
            <a:r>
              <a:rPr sz="1600" b="1">
                <a:solidFill>
                  <a:srgbClr val="1F3864"/>
                </a:solidFill>
              </a:rPr>
              <a:t>2024:  264 suppliers,  $1,045M spend</a:t>
            </a:r>
          </a:p>
          <a:p>
            <a:pPr lvl="1">
              <a:spcAft>
                <a:spcPts val="500"/>
              </a:spcAft>
            </a:pPr>
            <a:r>
              <a:rPr sz="1500" b="0">
                <a:solidFill>
                  <a:srgbClr val="444444"/>
                </a:solidFill>
              </a:rPr>
              <a:t>That is 40 more suppliers (up 18%) and $145M more spend (up 16%).</a:t>
            </a:r>
          </a:p>
          <a:p>
            <a:pPr lvl="1">
              <a:spcAft>
                <a:spcPts val="500"/>
              </a:spcAft>
            </a:pPr>
            <a:r>
              <a:rPr sz="1500" b="0">
                <a:solidFill>
                  <a:srgbClr val="444444"/>
                </a:solidFill>
              </a:rPr>
              <a:t>But the average spend per supplier fell, from $4.02M to $3.96M.</a:t>
            </a:r>
          </a:p>
          <a:p>
            <a:pPr>
              <a:spcAft>
                <a:spcPts val="500"/>
              </a:spcAft>
            </a:pPr>
            <a:r>
              <a:rPr sz="1600" b="1">
                <a:solidFill>
                  <a:srgbClr val="1F3864"/>
                </a:solidFill>
              </a:rPr>
              <a:t>So spend is rising while it is being spread across more suppliers, which is the opposite of building buying power.</a:t>
            </a:r>
          </a:p>
          <a:p>
            <a:pPr lvl="1">
              <a:spcAft>
                <a:spcPts val="500"/>
              </a:spcAft>
            </a:pPr>
            <a:r>
              <a:rPr sz="1500" b="0">
                <a:solidFill>
                  <a:srgbClr val="444444"/>
                </a:solidFill>
              </a:rPr>
              <a:t>This backs up the loss of buying power and the fact the units were never joined up.</a:t>
            </a:r>
          </a:p>
          <a:p>
            <a:pPr>
              <a:spcAft>
                <a:spcPts val="500"/>
              </a:spcAft>
            </a:pPr>
            <a:r>
              <a:rPr sz="1600" b="0" i="1">
                <a:solidFill>
                  <a:srgbClr val="C0392B"/>
                </a:solidFill>
              </a:rPr>
              <a:t>Assumption: these look like group totals, so a breakdown by site or category would show where the opportunity sits.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The issue I think matters most</a:t>
            </a:r>
          </a:p>
          <a:p>
            <a:r>
              <a:rPr sz="1500" i="1">
                <a:solidFill>
                  <a:srgbClr val="C0392B"/>
                </a:solidFill>
              </a:rPr>
              <a:t>My view</a:t>
            </a:r>
          </a:p>
        </p:txBody>
      </p:sp>
      <p:sp>
        <p:nvSpPr>
          <p:cNvPr id="3" name="TextBox 2"/>
          <p:cNvSpPr txBox="1"/>
          <p:nvPr/>
        </p:nvSpPr>
        <p:spPr>
          <a:xfrm>
            <a:off x="548640" y="1554480"/>
            <a:ext cx="11064240" cy="5120640"/>
          </a:xfrm>
          <a:prstGeom prst="rect">
            <a:avLst/>
          </a:prstGeom>
          <a:noFill/>
        </p:spPr>
        <p:txBody>
          <a:bodyPr wrap="square">
            <a:spAutoFit/>
          </a:bodyPr>
          <a:lstStyle/>
          <a:p>
            <a:pPr>
              <a:spcAft>
                <a:spcPts val="500"/>
              </a:spcAft>
            </a:pPr>
            <a:r>
              <a:rPr sz="1800" b="1">
                <a:solidFill>
                  <a:srgbClr val="1F3864"/>
                </a:solidFill>
              </a:rPr>
              <a:t>For me it is R1, the lack of executive backing.</a:t>
            </a:r>
          </a:p>
          <a:p>
            <a:pPr lvl="1">
              <a:spcAft>
                <a:spcPts val="500"/>
              </a:spcAft>
            </a:pPr>
            <a:r>
              <a:rPr sz="1700" b="0">
                <a:solidFill>
                  <a:srgbClr val="444444"/>
                </a:solidFill>
              </a:rPr>
              <a:t>It is not the costliest problem, but it is the one that has to be solved before any of the others can move.</a:t>
            </a:r>
          </a:p>
          <a:p>
            <a:pPr lvl="1">
              <a:spcAft>
                <a:spcPts val="500"/>
              </a:spcAft>
            </a:pPr>
            <a:r>
              <a:rPr sz="1700" b="0">
                <a:solidFill>
                  <a:srgbClr val="444444"/>
                </a:solidFill>
              </a:rPr>
              <a:t>Across 59 independent sites you cannot standardise processes, bring systems together or tidy up suppliers unless leadership requires it.</a:t>
            </a:r>
          </a:p>
          <a:p>
            <a:pPr lvl="1">
              <a:spcAft>
                <a:spcPts val="500"/>
              </a:spcAft>
            </a:pPr>
            <a:r>
              <a:rPr sz="1700" b="0">
                <a:solidFill>
                  <a:srgbClr val="444444"/>
                </a:solidFill>
              </a:rPr>
              <a:t>If it is left alone, spend and the supplier base just keep spreading, which is exactly what the 2023 to 2024 figures show. It is cheap to fix and it makes everything else possible.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2. What I would prioritise: three moves that matter most</a:t>
            </a:r>
          </a:p>
          <a:p>
            <a:r>
              <a:rPr sz="1500" i="1">
                <a:solidFill>
                  <a:srgbClr val="C0392B"/>
                </a:solidFill>
              </a:rPr>
              <a:t>The priorities and the reasoning, not a full rebuild</a:t>
            </a:r>
          </a:p>
        </p:txBody>
      </p:sp>
      <p:sp>
        <p:nvSpPr>
          <p:cNvPr id="3" name="TextBox 2"/>
          <p:cNvSpPr txBox="1"/>
          <p:nvPr/>
        </p:nvSpPr>
        <p:spPr>
          <a:xfrm>
            <a:off x="548640" y="1371600"/>
            <a:ext cx="11064240" cy="5120640"/>
          </a:xfrm>
          <a:prstGeom prst="rect">
            <a:avLst/>
          </a:prstGeom>
          <a:noFill/>
        </p:spPr>
        <p:txBody>
          <a:bodyPr wrap="square">
            <a:spAutoFit/>
          </a:bodyPr>
          <a:lstStyle/>
          <a:p>
            <a:pPr lvl="1">
              <a:spcAft>
                <a:spcPts val="500"/>
              </a:spcAft>
            </a:pPr>
            <a:r>
              <a:rPr sz="1500" b="1">
                <a:solidFill>
                  <a:srgbClr val="444444"/>
                </a:solidFill>
              </a:rPr>
              <a:t>1.  Get executive backing and a clear requirement to comply</a:t>
            </a:r>
          </a:p>
          <a:p>
            <a:pPr lvl="2">
              <a:spcAft>
                <a:spcPts val="500"/>
              </a:spcAft>
            </a:pPr>
            <a:r>
              <a:rPr sz="1400" b="0">
                <a:solidFill>
                  <a:srgbClr val="444444"/>
                </a:solidFill>
              </a:rPr>
              <a:t>Quick, low cost, and it makes everything else possible.</a:t>
            </a:r>
          </a:p>
          <a:p>
            <a:pPr lvl="1">
              <a:spcAft>
                <a:spcPts val="500"/>
              </a:spcAft>
            </a:pPr>
            <a:r>
              <a:rPr sz="1500" b="1">
                <a:solidFill>
                  <a:srgbClr val="444444"/>
                </a:solidFill>
              </a:rPr>
              <a:t>2.  Agree one standard procure-to-pay process and tidy up the catalogue and small-value spend</a:t>
            </a:r>
          </a:p>
          <a:p>
            <a:pPr lvl="2">
              <a:spcAft>
                <a:spcPts val="500"/>
              </a:spcAft>
            </a:pPr>
            <a:r>
              <a:rPr sz="1400" b="0">
                <a:solidFill>
                  <a:srgbClr val="444444"/>
                </a:solidFill>
              </a:rPr>
              <a:t>The biggest near-term gain at 1.8 million transactions a day, and it does not need new systems.</a:t>
            </a:r>
          </a:p>
          <a:p>
            <a:pPr lvl="1">
              <a:spcAft>
                <a:spcPts val="500"/>
              </a:spcAft>
            </a:pPr>
            <a:r>
              <a:rPr sz="1500" b="1">
                <a:solidFill>
                  <a:srgbClr val="444444"/>
                </a:solidFill>
              </a:rPr>
              <a:t>3.  Even out the two teams by filling Team 1's open roles or moving work across</a:t>
            </a:r>
          </a:p>
          <a:p>
            <a:pPr lvl="2">
              <a:spcAft>
                <a:spcPts val="500"/>
              </a:spcAft>
            </a:pPr>
            <a:r>
              <a:rPr sz="1400" b="0">
                <a:solidFill>
                  <a:srgbClr val="444444"/>
                </a:solidFill>
              </a:rPr>
              <a:t>A quick win that also helps morale.</a:t>
            </a:r>
          </a:p>
          <a:p>
            <a:pPr>
              <a:spcAft>
                <a:spcPts val="500"/>
              </a:spcAft>
            </a:pPr>
            <a:r>
              <a:rPr sz="1600" b="0" i="1">
                <a:solidFill>
                  <a:srgbClr val="C0392B"/>
                </a:solidFill>
              </a:rPr>
              <a:t>Assumption: these three give most of the benefit, so bigger changes can wait until the data backs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Related issues to come back to later</a:t>
            </a:r>
          </a:p>
          <a:p>
            <a:r>
              <a:rPr sz="1500" i="1">
                <a:solidFill>
                  <a:srgbClr val="C0392B"/>
                </a:solidFill>
              </a:rPr>
              <a:t>Bigger, costlier changes that should be led by data</a:t>
            </a:r>
          </a:p>
        </p:txBody>
      </p:sp>
      <p:sp>
        <p:nvSpPr>
          <p:cNvPr id="3" name="TextBox 2"/>
          <p:cNvSpPr txBox="1"/>
          <p:nvPr/>
        </p:nvSpPr>
        <p:spPr>
          <a:xfrm>
            <a:off x="548640" y="1463040"/>
            <a:ext cx="11064240" cy="5120640"/>
          </a:xfrm>
          <a:prstGeom prst="rect">
            <a:avLst/>
          </a:prstGeom>
          <a:noFill/>
        </p:spPr>
        <p:txBody>
          <a:bodyPr wrap="square">
            <a:spAutoFit/>
          </a:bodyPr>
          <a:lstStyle/>
          <a:p>
            <a:pPr>
              <a:spcAft>
                <a:spcPts val="500"/>
              </a:spcAft>
            </a:pPr>
            <a:r>
              <a:rPr sz="1700" b="1">
                <a:solidFill>
                  <a:srgbClr val="1F3864"/>
                </a:solidFill>
              </a:rPr>
              <a:t>Bringing the ERPs (Oracle, SAP, PeopleSoft) together, or at least connecting them properly.</a:t>
            </a:r>
          </a:p>
          <a:p>
            <a:pPr>
              <a:spcAft>
                <a:spcPts val="500"/>
              </a:spcAft>
            </a:pPr>
            <a:r>
              <a:rPr sz="1700" b="1">
                <a:solidFill>
                  <a:srgbClr val="1F3864"/>
                </a:solidFill>
              </a:rPr>
              <a:t>Tidying up the supplier base to rebuild buying power.</a:t>
            </a:r>
          </a:p>
          <a:p>
            <a:pPr>
              <a:spcAft>
                <a:spcPts val="500"/>
              </a:spcAft>
            </a:pPr>
            <a:r>
              <a:rPr sz="1700" b="1">
                <a:solidFill>
                  <a:srgbClr val="1F3864"/>
                </a:solidFill>
              </a:rPr>
              <a:t>Moving the 59 sites towards one way of working, or a shared service.</a:t>
            </a:r>
          </a:p>
          <a:p>
            <a:pPr>
              <a:spcAft>
                <a:spcPts val="500"/>
              </a:spcAft>
            </a:pPr>
            <a:r>
              <a:rPr sz="1700" b="0" i="1">
                <a:solidFill>
                  <a:srgbClr val="C0392B"/>
                </a:solidFill>
              </a:rPr>
              <a:t>Assumption: I am not assuming a full system merge is the right answer yet. That is a big call and should be based on spend, running costs and contract lock-ins.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Why this is a priority across the business</a:t>
            </a:r>
          </a:p>
          <a:p>
            <a:r>
              <a:rPr sz="1500" i="1">
                <a:solidFill>
                  <a:srgbClr val="C0392B"/>
                </a:solidFill>
              </a:rPr>
              <a:t>People, process, governance and systems</a:t>
            </a:r>
          </a:p>
        </p:txBody>
      </p:sp>
      <p:sp>
        <p:nvSpPr>
          <p:cNvPr id="3" name="TextBox 2"/>
          <p:cNvSpPr txBox="1"/>
          <p:nvPr/>
        </p:nvSpPr>
        <p:spPr>
          <a:xfrm>
            <a:off x="548640" y="1280160"/>
            <a:ext cx="11064240" cy="5120640"/>
          </a:xfrm>
          <a:prstGeom prst="rect">
            <a:avLst/>
          </a:prstGeom>
          <a:noFill/>
        </p:spPr>
        <p:txBody>
          <a:bodyPr wrap="square">
            <a:spAutoFit/>
          </a:bodyPr>
          <a:lstStyle/>
          <a:p>
            <a:pPr>
              <a:spcAft>
                <a:spcPts val="500"/>
              </a:spcAft>
            </a:pPr>
            <a:r>
              <a:rPr sz="1500" b="1">
                <a:solidFill>
                  <a:srgbClr val="1F3864"/>
                </a:solidFill>
              </a:rPr>
              <a:t>People</a:t>
            </a:r>
          </a:p>
          <a:p>
            <a:pPr lvl="1">
              <a:spcAft>
                <a:spcPts val="500"/>
              </a:spcAft>
            </a:pPr>
            <a:r>
              <a:rPr sz="1400" b="0">
                <a:solidFill>
                  <a:srgbClr val="444444"/>
                </a:solidFill>
              </a:rPr>
              <a:t>The teams are uneven, morale is low and procurement is seen as low value, so there is limited capacity and appetite for change.</a:t>
            </a:r>
          </a:p>
          <a:p>
            <a:pPr>
              <a:spcAft>
                <a:spcPts val="500"/>
              </a:spcAft>
            </a:pPr>
            <a:r>
              <a:rPr sz="1500" b="1">
                <a:solidFill>
                  <a:srgbClr val="1F3864"/>
                </a:solidFill>
              </a:rPr>
              <a:t>Process</a:t>
            </a:r>
          </a:p>
          <a:p>
            <a:pPr lvl="1">
              <a:spcAft>
                <a:spcPts val="500"/>
              </a:spcAft>
            </a:pPr>
            <a:r>
              <a:rPr sz="1400" b="0">
                <a:solidFill>
                  <a:srgbClr val="444444"/>
                </a:solidFill>
              </a:rPr>
              <a:t>No standard process, a lot of manual work and too many catalogue items, all multiplied across 1.8 million transactions a day.</a:t>
            </a:r>
          </a:p>
          <a:p>
            <a:pPr>
              <a:spcAft>
                <a:spcPts val="500"/>
              </a:spcAft>
            </a:pPr>
            <a:r>
              <a:rPr sz="1500" b="1">
                <a:solidFill>
                  <a:srgbClr val="1F3864"/>
                </a:solidFill>
              </a:rPr>
              <a:t>Governance</a:t>
            </a:r>
          </a:p>
          <a:p>
            <a:pPr lvl="1">
              <a:spcAft>
                <a:spcPts val="500"/>
              </a:spcAft>
            </a:pPr>
            <a:r>
              <a:rPr sz="1400" b="0">
                <a:solidFill>
                  <a:srgbClr val="444444"/>
                </a:solidFill>
              </a:rPr>
              <a:t>No executive requirement to comply, which is what turns these problems into a real priority.</a:t>
            </a:r>
          </a:p>
          <a:p>
            <a:pPr>
              <a:spcAft>
                <a:spcPts val="500"/>
              </a:spcAft>
            </a:pPr>
            <a:r>
              <a:rPr sz="1500" b="1">
                <a:solidFill>
                  <a:srgbClr val="1F3864"/>
                </a:solidFill>
              </a:rPr>
              <a:t>Systems</a:t>
            </a:r>
          </a:p>
          <a:p>
            <a:pPr lvl="1">
              <a:spcAft>
                <a:spcPts val="500"/>
              </a:spcAft>
            </a:pPr>
            <a:r>
              <a:rPr sz="1400" b="0">
                <a:solidFill>
                  <a:srgbClr val="444444"/>
                </a:solidFill>
              </a:rPr>
              <a:t>Three poorly connected ERPs and no single view of spend.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Risks, constraints and dependencies that affect the priorities</a:t>
            </a:r>
          </a:p>
        </p:txBody>
      </p:sp>
      <p:sp>
        <p:nvSpPr>
          <p:cNvPr id="3" name="TextBox 2"/>
          <p:cNvSpPr txBox="1"/>
          <p:nvPr/>
        </p:nvSpPr>
        <p:spPr>
          <a:xfrm>
            <a:off x="548640" y="1371600"/>
            <a:ext cx="11064240" cy="5120640"/>
          </a:xfrm>
          <a:prstGeom prst="rect">
            <a:avLst/>
          </a:prstGeom>
          <a:noFill/>
        </p:spPr>
        <p:txBody>
          <a:bodyPr wrap="square">
            <a:spAutoFit/>
          </a:bodyPr>
          <a:lstStyle/>
          <a:p>
            <a:pPr>
              <a:spcAft>
                <a:spcPts val="500"/>
              </a:spcAft>
            </a:pPr>
            <a:r>
              <a:rPr sz="1600" b="1">
                <a:solidFill>
                  <a:srgbClr val="1F3864"/>
                </a:solidFill>
              </a:rPr>
              <a:t>The big dependency is executive backing. Without it the whole plan stalls.</a:t>
            </a:r>
          </a:p>
          <a:p>
            <a:pPr>
              <a:spcAft>
                <a:spcPts val="500"/>
              </a:spcAft>
            </a:pPr>
            <a:r>
              <a:rPr sz="1600" b="0">
                <a:solidFill>
                  <a:srgbClr val="444444"/>
                </a:solidFill>
              </a:rPr>
              <a:t>The 59 sites are used to running themselves, so expect pushback on giving up control.</a:t>
            </a:r>
          </a:p>
          <a:p>
            <a:pPr>
              <a:spcAft>
                <a:spcPts val="500"/>
              </a:spcAft>
            </a:pPr>
            <a:r>
              <a:rPr sz="1600" b="0">
                <a:solidFill>
                  <a:srgbClr val="444444"/>
                </a:solidFill>
              </a:rPr>
              <a:t>As a global business, local tax and legal rules limit how far one standard can go.</a:t>
            </a:r>
          </a:p>
          <a:p>
            <a:pPr>
              <a:spcAft>
                <a:spcPts val="500"/>
              </a:spcAft>
            </a:pPr>
            <a:r>
              <a:rPr sz="1600" b="0">
                <a:solidFill>
                  <a:srgbClr val="444444"/>
                </a:solidFill>
              </a:rPr>
              <a:t>Team 1 is stretched thin, so there is little spare capacity to take on change.</a:t>
            </a:r>
          </a:p>
          <a:p>
            <a:pPr>
              <a:spcAft>
                <a:spcPts val="500"/>
              </a:spcAft>
            </a:pPr>
            <a:r>
              <a:rPr sz="1600" b="0">
                <a:solidFill>
                  <a:srgbClr val="444444"/>
                </a:solidFill>
              </a:rPr>
              <a:t>Bringing the ERPs together would be costly and carries a real risk to day-to-day operations.</a:t>
            </a:r>
          </a:p>
          <a:p>
            <a:pPr>
              <a:spcAft>
                <a:spcPts val="500"/>
              </a:spcAft>
            </a:pPr>
            <a:r>
              <a:rPr sz="1600" b="0">
                <a:solidFill>
                  <a:srgbClr val="444444"/>
                </a:solidFill>
              </a:rPr>
              <a:t>More acquisitions could keep adding to the problem, and some systems or suppliers may be locked into contracts.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What I would want to know before confirming the priorities</a:t>
            </a:r>
          </a:p>
        </p:txBody>
      </p:sp>
      <p:sp>
        <p:nvSpPr>
          <p:cNvPr id="3" name="TextBox 2"/>
          <p:cNvSpPr txBox="1"/>
          <p:nvPr/>
        </p:nvSpPr>
        <p:spPr>
          <a:xfrm>
            <a:off x="548640" y="1371600"/>
            <a:ext cx="11064240" cy="5120640"/>
          </a:xfrm>
          <a:prstGeom prst="rect">
            <a:avLst/>
          </a:prstGeom>
          <a:noFill/>
        </p:spPr>
        <p:txBody>
          <a:bodyPr wrap="square">
            <a:spAutoFit/>
          </a:bodyPr>
          <a:lstStyle/>
          <a:p>
            <a:pPr>
              <a:spcAft>
                <a:spcPts val="500"/>
              </a:spcAft>
            </a:pPr>
            <a:r>
              <a:rPr sz="1700" b="0">
                <a:solidFill>
                  <a:srgbClr val="444444"/>
                </a:solidFill>
              </a:rPr>
              <a:t>Spend by site, category and supplier, and how much supplier overlap there is.</a:t>
            </a:r>
          </a:p>
          <a:p>
            <a:pPr>
              <a:spcAft>
                <a:spcPts val="500"/>
              </a:spcAft>
            </a:pPr>
            <a:r>
              <a:rPr sz="1700" b="0">
                <a:solidFill>
                  <a:srgbClr val="444444"/>
                </a:solidFill>
              </a:rPr>
              <a:t>Invoice volumes, how long payments take, and any late-payment charges.</a:t>
            </a:r>
          </a:p>
          <a:p>
            <a:pPr>
              <a:spcAft>
                <a:spcPts val="500"/>
              </a:spcAft>
            </a:pPr>
            <a:r>
              <a:rPr sz="1700" b="0">
                <a:solidFill>
                  <a:srgbClr val="444444"/>
                </a:solidFill>
              </a:rPr>
              <a:t>What it costs to run the three ERPs.</a:t>
            </a:r>
          </a:p>
          <a:p>
            <a:pPr>
              <a:spcAft>
                <a:spcPts val="500"/>
              </a:spcAft>
            </a:pPr>
            <a:r>
              <a:rPr sz="1700" b="0">
                <a:solidFill>
                  <a:srgbClr val="444444"/>
                </a:solidFill>
              </a:rPr>
              <a:t>How much of the 1.8 million daily transactions is small-value, and what one order costs to process.</a:t>
            </a:r>
          </a:p>
          <a:p>
            <a:pPr>
              <a:spcAft>
                <a:spcPts val="500"/>
              </a:spcAft>
            </a:pPr>
            <a:r>
              <a:rPr sz="1700" b="0">
                <a:solidFill>
                  <a:srgbClr val="444444"/>
                </a:solidFill>
              </a:rPr>
              <a:t>How many catalogue items and contracts there are, and which are locked in.</a:t>
            </a:r>
          </a:p>
          <a:p>
            <a:pPr>
              <a:spcAft>
                <a:spcPts val="500"/>
              </a:spcAft>
            </a:pPr>
            <a:r>
              <a:rPr sz="1700" b="0">
                <a:solidFill>
                  <a:srgbClr val="444444"/>
                </a:solidFill>
              </a:rPr>
              <a:t>The budget, the timeline, and whether leadership is genuinely willing to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1005840"/>
          </a:xfrm>
          <a:prstGeom prst="rect">
            <a:avLst/>
          </a:prstGeom>
          <a:noFill/>
        </p:spPr>
        <p:txBody>
          <a:bodyPr wrap="square">
            <a:spAutoFit/>
          </a:bodyPr>
          <a:lstStyle/>
          <a:p>
            <a:r>
              <a:rPr sz="2800" b="1">
                <a:solidFill>
                  <a:srgbClr val="1F3864"/>
                </a:solidFill>
              </a:rPr>
              <a:t>3. Five questions for the client</a:t>
            </a:r>
          </a:p>
          <a:p>
            <a:r>
              <a:rPr sz="1500" i="1">
                <a:solidFill>
                  <a:srgbClr val="C0392B"/>
                </a:solidFill>
              </a:rPr>
              <a:t>To help us get this right</a:t>
            </a:r>
          </a:p>
        </p:txBody>
      </p:sp>
      <p:sp>
        <p:nvSpPr>
          <p:cNvPr id="3" name="TextBox 2"/>
          <p:cNvSpPr txBox="1"/>
          <p:nvPr/>
        </p:nvSpPr>
        <p:spPr>
          <a:xfrm>
            <a:off x="548640" y="1280160"/>
            <a:ext cx="11064240" cy="5120640"/>
          </a:xfrm>
          <a:prstGeom prst="rect">
            <a:avLst/>
          </a:prstGeom>
          <a:noFill/>
        </p:spPr>
        <p:txBody>
          <a:bodyPr wrap="square">
            <a:spAutoFit/>
          </a:bodyPr>
          <a:lstStyle/>
          <a:p>
            <a:pPr>
              <a:spcAft>
                <a:spcPts val="500"/>
              </a:spcAft>
            </a:pPr>
            <a:r>
              <a:rPr sz="1500" b="1">
                <a:solidFill>
                  <a:srgbClr val="1F3864"/>
                </a:solidFill>
              </a:rPr>
              <a:t>1.  Spend and suppliers: what is the total spend, how does it split across the 59 sites, and how much supplier overlap is there?</a:t>
            </a:r>
          </a:p>
          <a:p>
            <a:pPr>
              <a:spcAft>
                <a:spcPts val="500"/>
              </a:spcAft>
            </a:pPr>
            <a:r>
              <a:rPr sz="1500" b="1">
                <a:solidFill>
                  <a:srgbClr val="1F3864"/>
                </a:solidFill>
              </a:rPr>
              <a:t>2.  Governance: is leadership willing to require one common way of working, and who would own it?</a:t>
            </a:r>
          </a:p>
          <a:p>
            <a:pPr>
              <a:spcAft>
                <a:spcPts val="500"/>
              </a:spcAft>
            </a:pPr>
            <a:r>
              <a:rPr sz="1500" b="1">
                <a:solidFill>
                  <a:srgbClr val="1F3864"/>
                </a:solidFill>
              </a:rPr>
              <a:t>3.  Transactions: how much of the 1.8 million a day is small-value spend, and what does it cost to process one order today?</a:t>
            </a:r>
          </a:p>
          <a:p>
            <a:pPr>
              <a:spcAft>
                <a:spcPts val="500"/>
              </a:spcAft>
            </a:pPr>
            <a:r>
              <a:rPr sz="1500" b="1">
                <a:solidFill>
                  <a:srgbClr val="1F3864"/>
                </a:solidFill>
              </a:rPr>
              <a:t>4.  Systems: is bringing the ERPs together on the table, what is locked in by contract, and is the goal a shared service or keeping sites independent?</a:t>
            </a:r>
          </a:p>
          <a:p>
            <a:pPr>
              <a:spcAft>
                <a:spcPts val="500"/>
              </a:spcAft>
            </a:pPr>
            <a:r>
              <a:rPr sz="1500" b="1">
                <a:solidFill>
                  <a:srgbClr val="1F3864"/>
                </a:solidFill>
              </a:rPr>
              <a:t>5.  People: what is behind the low morale, are Team 1's open roles funded, and can people move between the two teams?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