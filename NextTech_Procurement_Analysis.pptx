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3864"/>
                </a:solidFill>
              </a:rPr>
              <a:t>Procurement Problem Analysis &amp; Prioritisation</a:t>
            </a:r>
          </a:p>
          <a:p>
            <a:r>
              <a:rPr sz="1700">
                <a:solidFill>
                  <a:srgbClr val="444444"/>
                </a:solidFill>
              </a:rPr>
              <a:t>Client: Multinational Semiconductor Major  |  Manager's internal review</a:t>
            </a:r>
          </a:p>
          <a:p>
            <a:r>
              <a:rPr sz="1500" i="1">
                <a:solidFill>
                  <a:srgbClr val="C0392B"/>
                </a:solidFill>
              </a:rPr>
              <a:t>1. The issues, evidence &amp; impact   2. Prioritisation   3. Questions for the client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864"/>
                </a:solidFill>
              </a:rPr>
              <a:t>Context: one company running as 59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700" b="1">
                <a:solidFill>
                  <a:srgbClr val="1F3864"/>
                </a:solidFill>
              </a:rPr>
              <a:t>A multinational semiconductor major grew through M&amp;A but never integrated the acquired businesses.</a:t>
            </a:r>
          </a:p>
          <a:p>
            <a:pPr>
              <a:spcAft>
                <a:spcPts val="500"/>
              </a:spcAft>
            </a:pPr>
            <a:r>
              <a:rPr sz="1700" b="0">
                <a:solidFill>
                  <a:srgbClr val="444444"/>
                </a:solidFill>
              </a:rPr>
              <a:t>59 operating locations run as independent organisations, each with its own procurement processes, supplier community and back-end systems (Oracle, SAP, PeopleSoft).</a:t>
            </a:r>
          </a:p>
          <a:p>
            <a:pPr>
              <a:spcAft>
                <a:spcPts val="500"/>
              </a:spcAft>
            </a:pPr>
            <a:r>
              <a:rPr sz="1700" b="0">
                <a:solidFill>
                  <a:srgbClr val="444444"/>
                </a:solidFill>
              </a:rPr>
              <a:t>Two central procurement teams are accountable for end-to-end process across all 59 locations.</a:t>
            </a:r>
          </a:p>
          <a:p>
            <a:pPr>
              <a:spcAft>
                <a:spcPts val="500"/>
              </a:spcAft>
            </a:pPr>
            <a:r>
              <a:rPr sz="1700" b="1">
                <a:solidFill>
                  <a:srgbClr val="1F3864"/>
                </a:solidFill>
              </a:rPr>
              <a:t>Scale: ~1.8 million procurement transactions every day — so every inefficiency is multiplied massively.</a:t>
            </a:r>
          </a:p>
          <a:p>
            <a:pPr>
              <a:spcAft>
                <a:spcPts val="500"/>
              </a:spcAft>
            </a:pPr>
            <a:r>
              <a:rPr sz="1700" b="0">
                <a:solidFill>
                  <a:srgbClr val="444444"/>
                </a:solidFill>
              </a:rPr>
              <a:t>A manager's internal analysis surfaced the issues that follow.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864"/>
                </a:solidFill>
              </a:rPr>
              <a:t>1. The issues — root causes (the drivers)</a:t>
            </a:r>
          </a:p>
          <a:p>
            <a:r>
              <a:rPr sz="1500" i="1">
                <a:solidFill>
                  <a:srgbClr val="C0392B"/>
                </a:solidFill>
              </a:rPr>
              <a:t>Problem | evidence | business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600" b="1">
                <a:solidFill>
                  <a:srgbClr val="1F3864"/>
                </a:solidFill>
              </a:rPr>
              <a:t>R1  No executive sponsorship to enforce compliance</a:t>
            </a:r>
          </a:p>
          <a:p>
            <a:pPr lvl="1">
              <a:spcAft>
                <a:spcPts val="500"/>
              </a:spcAft>
            </a:pPr>
            <a:r>
              <a:rPr sz="1500" b="0">
                <a:solidFill>
                  <a:srgbClr val="444444"/>
                </a:solidFill>
              </a:rPr>
              <a:t>Teams are accountable but have no mandate; 'control of all 59 is a huge challenge' -&gt; nothing can be standardised. The keystone issue.</a:t>
            </a:r>
          </a:p>
          <a:p>
            <a:pPr>
              <a:spcAft>
                <a:spcPts val="500"/>
              </a:spcAft>
            </a:pPr>
            <a:r>
              <a:rPr sz="1600" b="1">
                <a:solidFill>
                  <a:srgbClr val="1F3864"/>
                </a:solidFill>
              </a:rPr>
              <a:t>R2  59 independent units from M&amp;A, never integrated</a:t>
            </a:r>
          </a:p>
          <a:p>
            <a:pPr lvl="1">
              <a:spcAft>
                <a:spcPts val="500"/>
              </a:spcAft>
            </a:pPr>
            <a:r>
              <a:rPr sz="1500" b="0">
                <a:solidFill>
                  <a:srgbClr val="444444"/>
                </a:solidFill>
              </a:rPr>
              <a:t>Own processes, suppliers and systems -&gt; duplication, no single source of truth, no buying leverage.</a:t>
            </a:r>
          </a:p>
          <a:p>
            <a:pPr>
              <a:spcAft>
                <a:spcPts val="500"/>
              </a:spcAft>
            </a:pPr>
            <a:r>
              <a:rPr sz="1600" b="1">
                <a:solidFill>
                  <a:srgbClr val="1F3864"/>
                </a:solidFill>
              </a:rPr>
              <a:t>R3  No standardised process design</a:t>
            </a:r>
          </a:p>
          <a:p>
            <a:pPr lvl="1">
              <a:spcAft>
                <a:spcPts val="500"/>
              </a:spcAft>
            </a:pPr>
            <a:r>
              <a:rPr sz="1500" b="0">
                <a:solidFill>
                  <a:srgbClr val="444444"/>
                </a:solidFill>
              </a:rPr>
              <a:t>Staff upskilled to process invoices many different ways -&gt; errors, slow cycles, no end-to-end visibility.</a:t>
            </a:r>
          </a:p>
          <a:p>
            <a:pPr>
              <a:spcAft>
                <a:spcPts val="500"/>
              </a:spcAft>
            </a:pPr>
            <a:r>
              <a:rPr sz="1600" b="1">
                <a:solidFill>
                  <a:srgbClr val="1F3864"/>
                </a:solidFill>
              </a:rPr>
              <a:t>R4  Fragmented, poorly integrated systems (Oracle / SAP / PeopleSoft)</a:t>
            </a:r>
          </a:p>
          <a:p>
            <a:pPr lvl="1">
              <a:spcAft>
                <a:spcPts val="500"/>
              </a:spcAft>
            </a:pPr>
            <a:r>
              <a:rPr sz="1500" b="0">
                <a:solidFill>
                  <a:srgbClr val="444444"/>
                </a:solidFill>
              </a:rPr>
              <a:t>'Not well integrated', 'a lot of manual processes' -&gt; rework, high IT/training cost, no consolidated spend data.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864"/>
                </a:solidFill>
              </a:rPr>
              <a:t>1. The issues — symptoms (what hurts day to day)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</a:rPr>
              <a:t>S1  Protracted payables (stated)</a:t>
            </a:r>
          </a:p>
          <a:p>
            <a:pPr lvl="1">
              <a:spcAft>
                <a:spcPts val="500"/>
              </a:spcAft>
            </a:pPr>
            <a:r>
              <a:rPr sz="1400" b="0" i="1">
                <a:solidFill>
                  <a:srgbClr val="C0392B"/>
                </a:solidFill>
              </a:rPr>
              <a:t>Assumption: drives late-payment penalties, lost early-payment discounts and strained supplier relationships.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</a:rPr>
              <a:t>S2  Lost economies of scale (stated)</a:t>
            </a:r>
          </a:p>
          <a:p>
            <a:pPr lvl="1">
              <a:spcAft>
                <a:spcPts val="500"/>
              </a:spcAft>
            </a:pPr>
            <a:r>
              <a:rPr sz="1400" b="0">
                <a:solidFill>
                  <a:srgbClr val="444444"/>
                </a:solidFill>
              </a:rPr>
              <a:t>Fragmented spend -&gt; higher prices and duplicate contracts (see supplier evidence next).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</a:rPr>
              <a:t>S3  Catalogue proliferation &amp; tail spend (stated)</a:t>
            </a:r>
          </a:p>
          <a:p>
            <a:pPr lvl="1">
              <a:spcAft>
                <a:spcPts val="500"/>
              </a:spcAft>
            </a:pPr>
            <a:r>
              <a:rPr sz="1400" b="0">
                <a:solidFill>
                  <a:srgbClr val="444444"/>
                </a:solidFill>
              </a:rPr>
              <a:t>Low-value items need multiple orders to different suppliers — costly at 1.8M txns/day.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</a:rPr>
              <a:t>S4  Resourcing imbalance (stated)</a:t>
            </a:r>
          </a:p>
          <a:p>
            <a:pPr lvl="1">
              <a:spcAft>
                <a:spcPts val="500"/>
              </a:spcAft>
            </a:pPr>
            <a:r>
              <a:rPr sz="1400" b="0">
                <a:solidFill>
                  <a:srgbClr val="444444"/>
                </a:solidFill>
              </a:rPr>
              <a:t>Team 1: 2 FTE + part-timers + 2 vacancies (slow).  Team 2: 7 + 2 seniors (fast).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</a:rPr>
              <a:t>S5  Low morale — procurement seen as low-value back-office work (stated)</a:t>
            </a:r>
          </a:p>
          <a:p>
            <a:pPr lvl="1">
              <a:spcAft>
                <a:spcPts val="500"/>
              </a:spcAft>
            </a:pPr>
            <a:r>
              <a:rPr sz="1400" b="0" i="1">
                <a:solidFill>
                  <a:srgbClr val="C0392B"/>
                </a:solidFill>
              </a:rPr>
              <a:t>Assumption: creates attrition risk and change fatigue.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864"/>
                </a:solidFill>
              </a:rPr>
              <a:t>Evidence: the supplier base is fragmenting, not consolidating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600" b="1">
                <a:solidFill>
                  <a:srgbClr val="1F3864"/>
                </a:solidFill>
              </a:rPr>
              <a:t>2023:  224 suppliers  |  $900M spend</a:t>
            </a:r>
          </a:p>
          <a:p>
            <a:pPr>
              <a:spcAft>
                <a:spcPts val="500"/>
              </a:spcAft>
            </a:pPr>
            <a:r>
              <a:rPr sz="1600" b="1">
                <a:solidFill>
                  <a:srgbClr val="1F3864"/>
                </a:solidFill>
              </a:rPr>
              <a:t>2024:  264 suppliers  |  $1,045M spend</a:t>
            </a:r>
          </a:p>
          <a:p>
            <a:pPr lvl="1">
              <a:spcAft>
                <a:spcPts val="500"/>
              </a:spcAft>
            </a:pPr>
            <a:r>
              <a:rPr sz="1500" b="0">
                <a:solidFill>
                  <a:srgbClr val="444444"/>
                </a:solidFill>
              </a:rPr>
              <a:t>Suppliers +40 (+18%); spend +$145M (+16%).</a:t>
            </a:r>
          </a:p>
          <a:p>
            <a:pPr lvl="1">
              <a:spcAft>
                <a:spcPts val="500"/>
              </a:spcAft>
            </a:pPr>
            <a:r>
              <a:rPr sz="1500" b="0">
                <a:solidFill>
                  <a:srgbClr val="444444"/>
                </a:solidFill>
              </a:rPr>
              <a:t>Average spend per supplier FELL: $4.02M -&gt; $3.96M.</a:t>
            </a:r>
          </a:p>
          <a:p>
            <a:pPr>
              <a:spcAft>
                <a:spcPts val="500"/>
              </a:spcAft>
            </a:pPr>
            <a:r>
              <a:rPr sz="1600" b="1">
                <a:solidFill>
                  <a:srgbClr val="1F3864"/>
                </a:solidFill>
              </a:rPr>
              <a:t>So spend is rising but buying leverage per supplier is falling — adding suppliers faster than consolidating them.</a:t>
            </a:r>
          </a:p>
          <a:p>
            <a:pPr lvl="1">
              <a:spcAft>
                <a:spcPts val="500"/>
              </a:spcAft>
            </a:pPr>
            <a:r>
              <a:rPr sz="1500" b="0">
                <a:solidFill>
                  <a:srgbClr val="444444"/>
                </a:solidFill>
              </a:rPr>
              <a:t>Direct evidence for S2 (lost economies of scale) and R2 (fragmented, un-integrated units).</a:t>
            </a:r>
          </a:p>
          <a:p>
            <a:pPr>
              <a:spcAft>
                <a:spcPts val="500"/>
              </a:spcAft>
            </a:pPr>
            <a:r>
              <a:rPr sz="1600" b="0" i="1">
                <a:solidFill>
                  <a:srgbClr val="C0392B"/>
                </a:solidFill>
              </a:rPr>
              <a:t>Assumption: figures are group-wide; a per-unit / per-category split would size the consolidation opportunity.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864"/>
                </a:solidFill>
              </a:rPr>
              <a:t>Which issue matters most?</a:t>
            </a:r>
          </a:p>
          <a:p>
            <a:r>
              <a:rPr sz="1500" i="1">
                <a:solidFill>
                  <a:srgbClr val="C0392B"/>
                </a:solidFill>
              </a:rPr>
              <a:t>Our 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800" b="1">
                <a:solidFill>
                  <a:srgbClr val="1F3864"/>
                </a:solidFill>
              </a:rPr>
              <a:t>Most important = R1: secure executive sponsorship and a compliance mandate.</a:t>
            </a:r>
          </a:p>
          <a:p>
            <a:pPr lvl="1">
              <a:spcAft>
                <a:spcPts val="500"/>
              </a:spcAft>
            </a:pPr>
            <a:r>
              <a:rPr sz="1700" b="0">
                <a:solidFill>
                  <a:srgbClr val="444444"/>
                </a:solidFill>
              </a:rPr>
              <a:t>Not the most expensive problem, but the dependency that unblocks everything else.</a:t>
            </a:r>
          </a:p>
          <a:p>
            <a:pPr lvl="1">
              <a:spcAft>
                <a:spcPts val="500"/>
              </a:spcAft>
            </a:pPr>
            <a:r>
              <a:rPr sz="1700" b="0">
                <a:solidFill>
                  <a:srgbClr val="444444"/>
                </a:solidFill>
              </a:rPr>
              <a:t>With 59 autonomous units, you cannot standardise processes, consolidate systems or rationalise suppliers unless leadership mandates it.</a:t>
            </a:r>
          </a:p>
          <a:p>
            <a:pPr lvl="1">
              <a:spcAft>
                <a:spcPts val="500"/>
              </a:spcAft>
            </a:pPr>
            <a:r>
              <a:rPr sz="1700" b="0">
                <a:solidFill>
                  <a:srgbClr val="444444"/>
                </a:solidFill>
              </a:rPr>
              <a:t>Business impact: without it, spend and the supplier base keep fragmenting (as 2023-&gt;2024 shows). Low cost, high leverage — fix it first.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864"/>
                </a:solidFill>
              </a:rPr>
              <a:t>2. Prioritisation — three high-impact moves</a:t>
            </a:r>
          </a:p>
          <a:p>
            <a:r>
              <a:rPr sz="1500" i="1">
                <a:solidFill>
                  <a:srgbClr val="C0392B"/>
                </a:solidFill>
              </a:rPr>
              <a:t>Prioritised issue and why — not a full redesign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500"/>
              </a:spcAft>
            </a:pPr>
            <a:r>
              <a:rPr sz="1500" b="1">
                <a:solidFill>
                  <a:srgbClr val="444444"/>
                </a:solidFill>
              </a:rPr>
              <a:t>1.  R1 — Secure executive sponsorship &amp; a compliance mandate</a:t>
            </a:r>
          </a:p>
          <a:p>
            <a:pPr lvl="2">
              <a:spcAft>
                <a:spcPts val="500"/>
              </a:spcAft>
            </a:pPr>
            <a:r>
              <a:rPr sz="1400" b="0">
                <a:solidFill>
                  <a:srgbClr val="444444"/>
                </a:solidFill>
              </a:rPr>
              <a:t>Low cost, fast, unlocks every other fix. Highest leverage move available.</a:t>
            </a:r>
          </a:p>
          <a:p>
            <a:pPr lvl="1">
              <a:spcAft>
                <a:spcPts val="500"/>
              </a:spcAft>
            </a:pPr>
            <a:r>
              <a:rPr sz="1500" b="1">
                <a:solidFill>
                  <a:srgbClr val="444444"/>
                </a:solidFill>
              </a:rPr>
              <a:t>2.  R3 + S3 — Standardise procure-to-pay &amp; rationalise catalogue / tail spend</a:t>
            </a:r>
          </a:p>
          <a:p>
            <a:pPr lvl="2">
              <a:spcAft>
                <a:spcPts val="500"/>
              </a:spcAft>
            </a:pPr>
            <a:r>
              <a:rPr sz="1400" b="0">
                <a:solidFill>
                  <a:srgbClr val="444444"/>
                </a:solidFill>
              </a:rPr>
              <a:t>Biggest near-term efficiency gain at 1.8M txns/day — achievable WITHOUT replacing systems.</a:t>
            </a:r>
          </a:p>
          <a:p>
            <a:pPr lvl="1">
              <a:spcAft>
                <a:spcPts val="500"/>
              </a:spcAft>
            </a:pPr>
            <a:r>
              <a:rPr sz="1500" b="1">
                <a:solidFill>
                  <a:srgbClr val="444444"/>
                </a:solidFill>
              </a:rPr>
              <a:t>3.  S4 — Rebalance the two central teams (fill Team 1 vacancies / shift workload)</a:t>
            </a:r>
          </a:p>
          <a:p>
            <a:pPr lvl="2">
              <a:spcAft>
                <a:spcPts val="500"/>
              </a:spcAft>
            </a:pPr>
            <a:r>
              <a:rPr sz="1400" b="0">
                <a:solidFill>
                  <a:srgbClr val="444444"/>
                </a:solidFill>
              </a:rPr>
              <a:t>Fast operational win that lifts throughput and morale.</a:t>
            </a:r>
          </a:p>
          <a:p>
            <a:pPr>
              <a:spcAft>
                <a:spcPts val="500"/>
              </a:spcAft>
            </a:pPr>
            <a:r>
              <a:rPr sz="1600" b="0" i="1">
                <a:solidFill>
                  <a:srgbClr val="C0392B"/>
                </a:solidFill>
              </a:rPr>
              <a:t>Assumption: these three deliver most of the benefit; structural changes are deferred until data justifies them.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864"/>
                </a:solidFill>
              </a:rPr>
              <a:t>Related issues — longer-term focus</a:t>
            </a:r>
          </a:p>
          <a:p>
            <a:r>
              <a:rPr sz="1500" i="1">
                <a:solidFill>
                  <a:srgbClr val="C0392B"/>
                </a:solidFill>
              </a:rPr>
              <a:t>Higher cost / risk: later-stage, data-led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700" b="1">
                <a:solidFill>
                  <a:srgbClr val="1F3864"/>
                </a:solidFill>
              </a:rPr>
              <a:t>R4 — Consolidate / better integrate the ERPs (Oracle, SAP, PeopleSoft)</a:t>
            </a:r>
          </a:p>
          <a:p>
            <a:pPr>
              <a:spcAft>
                <a:spcPts val="500"/>
              </a:spcAft>
            </a:pPr>
            <a:r>
              <a:rPr sz="1700" b="1">
                <a:solidFill>
                  <a:srgbClr val="1F3864"/>
                </a:solidFill>
              </a:rPr>
              <a:t>S2 — Rationalise the supplier base to rebuild buying leverage</a:t>
            </a:r>
          </a:p>
          <a:p>
            <a:pPr>
              <a:spcAft>
                <a:spcPts val="500"/>
              </a:spcAft>
            </a:pPr>
            <a:r>
              <a:rPr sz="1700" b="1">
                <a:solidFill>
                  <a:srgbClr val="1F3864"/>
                </a:solidFill>
              </a:rPr>
              <a:t>R2 — Move the 59 units toward one operating model / shared services</a:t>
            </a:r>
          </a:p>
          <a:p>
            <a:pPr>
              <a:spcAft>
                <a:spcPts val="500"/>
              </a:spcAft>
            </a:pPr>
            <a:r>
              <a:rPr sz="1700" b="0" i="1">
                <a:solidFill>
                  <a:srgbClr val="C0392B"/>
                </a:solidFill>
              </a:rPr>
              <a:t>Assumption: a full ERP consolidation is NOT assumed to be the right answer yet — it should be a business case decided on spend, cost-to-serve and lock-in data.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864"/>
                </a:solidFill>
              </a:rPr>
              <a:t>Why this is a priority — organisational factors</a:t>
            </a:r>
          </a:p>
          <a:p>
            <a:r>
              <a:rPr sz="1500" i="1">
                <a:solidFill>
                  <a:srgbClr val="C0392B"/>
                </a:solidFill>
              </a:rPr>
              <a:t>People · Process · Governance · Systems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</a:rPr>
              <a:t>People</a:t>
            </a:r>
          </a:p>
          <a:p>
            <a:pPr lvl="1">
              <a:spcAft>
                <a:spcPts val="500"/>
              </a:spcAft>
            </a:pPr>
            <a:r>
              <a:rPr sz="1400" b="0">
                <a:solidFill>
                  <a:srgbClr val="444444"/>
                </a:solidFill>
              </a:rPr>
              <a:t>Imbalanced teams (Team 1 understaffed, 2 vacancies, part-timers) + low morale + 'low-value' perception = limited capacity and appetite to deliver change.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</a:rPr>
              <a:t>Process</a:t>
            </a:r>
          </a:p>
          <a:p>
            <a:pPr lvl="1">
              <a:spcAft>
                <a:spcPts val="500"/>
              </a:spcAft>
            </a:pPr>
            <a:r>
              <a:rPr sz="1400" b="0">
                <a:solidFill>
                  <a:srgbClr val="444444"/>
                </a:solidFill>
              </a:rPr>
              <a:t>No standard P2P, manual processes, catalogue proliferation, multiple orders for low-value items — inefficiency scales to 1.8M txns/day.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</a:rPr>
              <a:t>Governance</a:t>
            </a:r>
          </a:p>
          <a:p>
            <a:pPr lvl="1">
              <a:spcAft>
                <a:spcPts val="500"/>
              </a:spcAft>
            </a:pPr>
            <a:r>
              <a:rPr sz="1400" b="0">
                <a:solidFill>
                  <a:srgbClr val="444444"/>
                </a:solidFill>
              </a:rPr>
              <a:t>No executive mandate; teams accountable but cannot enforce compliance across 59 units — this is what elevates everything to a priority.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</a:rPr>
              <a:t>Systems</a:t>
            </a:r>
          </a:p>
          <a:p>
            <a:pPr lvl="1">
              <a:spcAft>
                <a:spcPts val="500"/>
              </a:spcAft>
            </a:pPr>
            <a:r>
              <a:rPr sz="1400" b="0">
                <a:solidFill>
                  <a:srgbClr val="444444"/>
                </a:solidFill>
              </a:rPr>
              <a:t>Three poorly integrated ERPs (Oracle/SAP/PeopleSoft) -&gt; manual rework, no consolidated spend data, high IT/training cost.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864"/>
                </a:solidFill>
              </a:rPr>
              <a:t>Key risks, constraints &amp; dependencies affecting prioritisation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600" b="1">
                <a:solidFill>
                  <a:srgbClr val="1F3864"/>
                </a:solidFill>
              </a:rPr>
              <a:t>Dependency: executive sponsorship is the gating dependency — the plan stalls without it.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444444"/>
                </a:solidFill>
              </a:rPr>
              <a:t>Constraint: 59 autonomous units will resist giving up control (cultural).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444444"/>
                </a:solidFill>
              </a:rPr>
              <a:t>Constraint: multinational tax / statutory / regulatory rules limit a single standard.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444444"/>
                </a:solidFill>
              </a:rPr>
              <a:t>Constraint: thin Team 1 capacity + low morale limit bandwidth to absorb change.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444444"/>
                </a:solidFill>
              </a:rPr>
              <a:t>Risk: ERP consolidation carries cost, business-continuity and data-migration risk.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444444"/>
                </a:solidFill>
              </a:rPr>
              <a:t>Risk: ongoing M&amp;A may keep re-introducing fragmentation; contractual lock-ins on systems/suppliers.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864"/>
                </a:solidFill>
              </a:rPr>
              <a:t>Information needed before confirming priorities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700" b="0">
                <a:solidFill>
                  <a:srgbClr val="444444"/>
                </a:solidFill>
              </a:rPr>
              <a:t>Spend by unit / category / supplier, and supplier overlap across units.</a:t>
            </a:r>
          </a:p>
          <a:p>
            <a:pPr>
              <a:spcAft>
                <a:spcPts val="500"/>
              </a:spcAft>
            </a:pPr>
            <a:r>
              <a:rPr sz="1700" b="0">
                <a:solidFill>
                  <a:srgbClr val="444444"/>
                </a:solidFill>
              </a:rPr>
              <a:t>Invoice volumes, cycle times, late-payment penalties and maverick-spend rates.</a:t>
            </a:r>
          </a:p>
          <a:p>
            <a:pPr>
              <a:spcAft>
                <a:spcPts val="500"/>
              </a:spcAft>
            </a:pPr>
            <a:r>
              <a:rPr sz="1700" b="0">
                <a:solidFill>
                  <a:srgbClr val="444444"/>
                </a:solidFill>
              </a:rPr>
              <a:t>Cost of running the three ERPs (licences + support).</a:t>
            </a:r>
          </a:p>
          <a:p>
            <a:pPr>
              <a:spcAft>
                <a:spcPts val="500"/>
              </a:spcAft>
            </a:pPr>
            <a:r>
              <a:rPr sz="1700" b="0">
                <a:solidFill>
                  <a:srgbClr val="444444"/>
                </a:solidFill>
              </a:rPr>
              <a:t>Share of the 1.8M daily transactions that is low-value/tail vs strategic, and cost-to-process per order.</a:t>
            </a:r>
          </a:p>
          <a:p>
            <a:pPr>
              <a:spcAft>
                <a:spcPts val="500"/>
              </a:spcAft>
            </a:pPr>
            <a:r>
              <a:rPr sz="1700" b="0">
                <a:solidFill>
                  <a:srgbClr val="444444"/>
                </a:solidFill>
              </a:rPr>
              <a:t>Number of catalogue items and contracts; contractual lock-ins.</a:t>
            </a:r>
          </a:p>
          <a:p>
            <a:pPr>
              <a:spcAft>
                <a:spcPts val="500"/>
              </a:spcAft>
            </a:pPr>
            <a:r>
              <a:rPr sz="1700" b="0">
                <a:solidFill>
                  <a:srgbClr val="444444"/>
                </a:solidFill>
              </a:rPr>
              <a:t>Budget, timeline and genuine executive appetite for change.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864"/>
                </a:solidFill>
              </a:rPr>
              <a:t>3. Five questions for the client</a:t>
            </a:r>
          </a:p>
          <a:p>
            <a:r>
              <a:rPr sz="1500" i="1">
                <a:solidFill>
                  <a:srgbClr val="C0392B"/>
                </a:solidFill>
              </a:rPr>
              <a:t>To better inform our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</a:rPr>
              <a:t>1.  Spend &amp; suppliers — total spend, split across the 59 units, and how much supplier overlap exists between them?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</a:rPr>
              <a:t>2.  Governance — is there executive appetite to mandate a single, compliant operating model, and who would sponsor it?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</a:rPr>
              <a:t>3.  Transaction mix — of the 1.8M daily transactions, what share is low-value/tail, and what does one order cost to process today?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</a:rPr>
              <a:t>4.  Systems — is ERP consolidation on the table, what lock-ins exist, and is the target shared services or continued unit autonomy?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</a:rPr>
              <a:t>5.  People — what's driving low morale, are Team 1's vacancies funded, and can resource move between the two teams?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